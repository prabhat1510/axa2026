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A1D66-0705-421F-9449-FBDA8CD8786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A01E3-405F-430D-A168-149E9880E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96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Important?</a:t>
            </a:r>
          </a:p>
          <a:p>
            <a:r>
              <a:rPr lang="en-US" dirty="0"/>
              <a:t>Helps identify:</a:t>
            </a:r>
          </a:p>
          <a:p>
            <a:r>
              <a:rPr lang="en-US" dirty="0"/>
              <a:t>Delayed fixes </a:t>
            </a:r>
          </a:p>
          <a:p>
            <a:r>
              <a:rPr lang="en-US" dirty="0"/>
              <a:t>Team bottlenecks </a:t>
            </a:r>
          </a:p>
          <a:p>
            <a:r>
              <a:rPr lang="en-US" dirty="0"/>
              <a:t>Release risks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A01E3-405F-430D-A168-149E9880EE18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26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163D-93BA-B8F0-609C-90D9C6B1D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7693E-3A5A-66B1-B542-7F7F8CC67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618AD-9658-2AD7-53FA-C479A0A3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B6111-8F92-0507-49AC-A045B0E48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88189-9EE3-BB71-A1F7-614945461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50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2104-9A63-2572-F2D5-3E062EFD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62C4A-6EB1-189E-AE1F-E581467AB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87AF5-CBD5-83EB-E76F-6DCE5D7D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567B9-800B-0A0E-D9FA-3CF3809C8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80933-5C2D-5AA0-C685-ADA17D7B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11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D8AE-FDC4-02DD-6DB7-717D1669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F5A71-6E61-1708-30DB-047F5E1B4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749F4-7E6F-0D11-EE1F-B9BFE57C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9DD74-307E-176A-BBB1-8D4E473D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7BCC4-A607-681B-7391-454C285D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57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17848-7C77-3415-FC1A-838F4D07D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6554E-6499-F57E-9F49-A7C26B56A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1F1EA-2B16-AB79-EA48-6663EEBCA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3497D-BEE6-AAC5-6757-BA8F9DEF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85BD6-3750-5393-2E89-CEC01127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6A914-CDDD-5210-3C39-35DFD486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76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FE2B-1492-F951-E05A-8503897D5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6ED73-5A7A-E0D6-D61B-B23ED4E3F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26C77-75AC-CB7E-84DF-CB0BB120C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A411F-7826-B50C-FC56-DA66259CB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7663C4-EC1C-FE72-13B9-B33C326DF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DD8256-01FE-DF84-D00E-CD4B48C5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CF4AD-E2EE-CDC1-0E44-30274CAA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0CBC9-1921-045E-FFA5-A9905B9C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38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3F307-48AE-136C-40AB-FADB93A8A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16489-3DBC-BEA9-F21F-A631FE04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9CA70-5A25-FF17-F18B-82CF42A0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65CCB-49B3-5BA5-A607-0955CD4C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37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638F2-C198-E4AD-69D8-DB8DE10B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D34A4-55B1-4595-D2B7-04088EDD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CD0F3-5A50-42AD-CAC9-FEC98E7B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55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7F53E-64C7-FEF4-BF0B-CC0897BB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C7F8-EF93-3A6D-E426-3688D0A2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182B1-D87E-9B2F-8414-CA3D5E1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78471-0297-D25A-E9B8-9C3C3DE4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C1C32-6E21-7D2C-23AC-18818F278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557F5-160E-1A66-97A9-9E29A552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72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F1E7-FD0D-7317-0BDE-1314BED2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BDEC89-8044-2A68-D713-74BE683B0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BC7C8-18D3-703D-C81C-A572D42C7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A2971-5CAD-2084-4094-81894E1A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A7F54-273F-347A-9C3E-C3534C48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18D59-ABFC-182D-21C6-584102CB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48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5DFB-0775-2E55-03DA-01E3D8D4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184AA-285A-5FA7-078F-5F0A1C23F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4DAEB-259C-5D77-6106-A08579BEC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F2DCE-6EBD-F083-43A5-BAF723DA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F66C9-AA43-29A6-9B8E-C0BEFF39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03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DC40-E750-7A35-B7CB-C55E7F7C6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EAD70-2906-49FF-B6A9-A2B9D6E38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ABFD8-5D52-FC23-B477-D71166D22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9C273-A809-07F8-1D5D-891DBB72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741E9-F158-D1EC-543B-682F8346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11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C9553-C3FA-7FD1-B167-1161D435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CBC0-E1EF-3560-09B6-F3661E80A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CB24E-ABC1-B5E1-6523-BC41B2249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7C404-56EB-4294-93E7-EFA09FC07D9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79ADA-B36A-E2A3-E4C4-E0002F7CA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63494-6FD5-8A51-AB55-FAEF6C044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FF578-DE68-4D60-B0E3-2E2783E83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4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F9257-8346-B0A0-0456-7C75A1F63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Defect Lifecycle and Defect Reporting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77E3D-8BF0-F1A3-FA62-6D2E4B1D6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30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FA81-B7EC-85A8-5A94-2EC5C4E2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Defect?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0339-7A6F-2048-5BE1-CF2D98E67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Defect (Bug)</a:t>
            </a:r>
            <a:r>
              <a:rPr lang="en-US" dirty="0"/>
              <a:t> is a flaw or deviation in a software application where the actual behavior differs from the expected behavior.</a:t>
            </a:r>
          </a:p>
          <a:p>
            <a:pPr marL="0" indent="0">
              <a:buNone/>
            </a:pPr>
            <a:r>
              <a:rPr lang="en-US" b="1" dirty="0"/>
              <a:t>Formula</a:t>
            </a:r>
          </a:p>
          <a:p>
            <a:pPr lvl="1"/>
            <a:r>
              <a:rPr lang="en-US" b="1" dirty="0"/>
              <a:t>Expected Result ≠ Actual Result = Defect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lvl="1"/>
            <a:r>
              <a:rPr lang="en-US" b="1" dirty="0"/>
              <a:t>Requirement</a:t>
            </a:r>
          </a:p>
          <a:p>
            <a:pPr lvl="2"/>
            <a:r>
              <a:rPr lang="en-US" dirty="0"/>
              <a:t>User should be able to login with valid credentials.</a:t>
            </a:r>
          </a:p>
          <a:p>
            <a:pPr lvl="1"/>
            <a:r>
              <a:rPr lang="en-US" b="1" dirty="0"/>
              <a:t>Test Data</a:t>
            </a:r>
          </a:p>
          <a:p>
            <a:pPr lvl="2"/>
            <a:r>
              <a:rPr lang="en-US" dirty="0"/>
              <a:t>Username: admin</a:t>
            </a:r>
          </a:p>
          <a:p>
            <a:pPr lvl="2"/>
            <a:r>
              <a:rPr lang="en-US" dirty="0"/>
              <a:t>Password: admin123</a:t>
            </a:r>
          </a:p>
          <a:p>
            <a:pPr lvl="1"/>
            <a:r>
              <a:rPr lang="en-US" b="1" dirty="0"/>
              <a:t>Actual Behavior</a:t>
            </a:r>
          </a:p>
          <a:p>
            <a:pPr lvl="2"/>
            <a:r>
              <a:rPr lang="en-US" dirty="0"/>
              <a:t>System displays "Invalid Credentials".</a:t>
            </a:r>
          </a:p>
          <a:p>
            <a:pPr lvl="1"/>
            <a:r>
              <a:rPr lang="en-US" b="1" dirty="0"/>
              <a:t>Result</a:t>
            </a:r>
          </a:p>
          <a:p>
            <a:pPr lvl="2"/>
            <a:r>
              <a:rPr lang="en-US" dirty="0"/>
              <a:t>This is a </a:t>
            </a:r>
            <a:r>
              <a:rPr lang="en-US" b="1" dirty="0"/>
              <a:t>Defect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654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F075-4419-C4D9-399F-22C0230EC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Terminologies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0B991C-CE81-258A-934D-E37DC92A7F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620193"/>
              </p:ext>
            </p:extLst>
          </p:nvPr>
        </p:nvGraphicFramePr>
        <p:xfrm>
          <a:off x="932468" y="2021665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338615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81879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372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Mistake made by developer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11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Defect/Bug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Fault found during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255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Software behaves incorrectly during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292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Incident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Any unexpected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observed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3741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CF35E7-03C4-5F15-B8C9-B9ED9DD39AE9}"/>
              </a:ext>
            </a:extLst>
          </p:cNvPr>
          <p:cNvSpPr txBox="1"/>
          <p:nvPr/>
        </p:nvSpPr>
        <p:spPr>
          <a:xfrm>
            <a:off x="1199561" y="461648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Flow</a:t>
            </a:r>
          </a:p>
          <a:p>
            <a:pPr>
              <a:buNone/>
            </a:pPr>
            <a:r>
              <a:rPr lang="en-US" dirty="0"/>
              <a:t>Developer Error → Defect in Code → Failure during Execution</a:t>
            </a:r>
          </a:p>
        </p:txBody>
      </p:sp>
    </p:spTree>
    <p:extLst>
      <p:ext uri="{BB962C8B-B14F-4D97-AF65-F5344CB8AC3E}">
        <p14:creationId xmlns:p14="http://schemas.microsoft.com/office/powerpoint/2010/main" val="334356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D26E-4EE4-2F37-F46C-6963E6A5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Defect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2076-7156-0B6F-CF58-079B33BA1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A defect passes through several stages from identification to closure.</a:t>
            </a:r>
          </a:p>
          <a:p>
            <a:pPr marL="0" indent="0">
              <a:buNone/>
            </a:pPr>
            <a:r>
              <a:rPr lang="en-US" sz="1400" b="1" dirty="0"/>
              <a:t>Defect Lifecycle Flow</a:t>
            </a:r>
          </a:p>
          <a:p>
            <a:pPr marL="457200" lvl="1" indent="0">
              <a:buNone/>
            </a:pPr>
            <a:r>
              <a:rPr lang="en-US" sz="1400" dirty="0"/>
              <a:t>New</a:t>
            </a:r>
          </a:p>
          <a:p>
            <a:pPr marL="457200" lvl="1" indent="0">
              <a:buNone/>
            </a:pPr>
            <a:r>
              <a:rPr lang="en-US" sz="1400" dirty="0"/>
              <a:t> ↓</a:t>
            </a:r>
          </a:p>
          <a:p>
            <a:pPr marL="457200" lvl="1" indent="0">
              <a:buNone/>
            </a:pPr>
            <a:r>
              <a:rPr lang="en-US" sz="1400" dirty="0"/>
              <a:t>Assigned</a:t>
            </a:r>
          </a:p>
          <a:p>
            <a:pPr marL="457200" lvl="1" indent="0">
              <a:buNone/>
            </a:pPr>
            <a:r>
              <a:rPr lang="en-US" sz="1400" dirty="0"/>
              <a:t> ↓</a:t>
            </a:r>
          </a:p>
          <a:p>
            <a:pPr marL="457200" lvl="1" indent="0">
              <a:buNone/>
            </a:pPr>
            <a:r>
              <a:rPr lang="en-US" sz="1400" dirty="0"/>
              <a:t>Open</a:t>
            </a:r>
          </a:p>
          <a:p>
            <a:pPr marL="457200" lvl="1" indent="0">
              <a:buNone/>
            </a:pPr>
            <a:r>
              <a:rPr lang="en-US" sz="1400" dirty="0"/>
              <a:t> ↓</a:t>
            </a:r>
          </a:p>
          <a:p>
            <a:pPr marL="457200" lvl="1" indent="0">
              <a:buNone/>
            </a:pPr>
            <a:r>
              <a:rPr lang="en-US" sz="1400" dirty="0"/>
              <a:t>Fixed</a:t>
            </a:r>
          </a:p>
          <a:p>
            <a:pPr marL="457200" lvl="1" indent="0">
              <a:buNone/>
            </a:pPr>
            <a:r>
              <a:rPr lang="en-US" sz="1400" dirty="0"/>
              <a:t> ↓</a:t>
            </a:r>
          </a:p>
          <a:p>
            <a:pPr marL="457200" lvl="1" indent="0">
              <a:buNone/>
            </a:pPr>
            <a:r>
              <a:rPr lang="en-US" sz="1400" dirty="0"/>
              <a:t>Retest</a:t>
            </a:r>
          </a:p>
          <a:p>
            <a:pPr marL="457200" lvl="1" indent="0">
              <a:buNone/>
            </a:pPr>
            <a:r>
              <a:rPr lang="en-US" sz="1400" dirty="0"/>
              <a:t> ↓</a:t>
            </a:r>
          </a:p>
          <a:p>
            <a:pPr marL="457200" lvl="1" indent="0">
              <a:buNone/>
            </a:pPr>
            <a:r>
              <a:rPr lang="en-US" sz="1400" dirty="0"/>
              <a:t>Verified</a:t>
            </a:r>
          </a:p>
          <a:p>
            <a:pPr marL="457200" lvl="1" indent="0">
              <a:buNone/>
            </a:pPr>
            <a:r>
              <a:rPr lang="en-US" sz="1400" dirty="0"/>
              <a:t> ↓</a:t>
            </a:r>
          </a:p>
          <a:p>
            <a:pPr marL="457200" lvl="1" indent="0">
              <a:buNone/>
            </a:pPr>
            <a:r>
              <a:rPr lang="en-US" sz="1400" dirty="0"/>
              <a:t>Closed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3E996-0792-4219-A706-A6E73D353358}"/>
              </a:ext>
            </a:extLst>
          </p:cNvPr>
          <p:cNvSpPr txBox="1"/>
          <p:nvPr/>
        </p:nvSpPr>
        <p:spPr>
          <a:xfrm>
            <a:off x="3810786" y="2091670"/>
            <a:ext cx="788787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Other possible states</a:t>
            </a:r>
            <a:r>
              <a:rPr lang="en-IN" sz="1400" dirty="0"/>
              <a:t>:</a:t>
            </a:r>
          </a:p>
          <a:p>
            <a:pPr lvl="1"/>
            <a:r>
              <a:rPr lang="en-US" sz="1400" dirty="0"/>
              <a:t>New</a:t>
            </a:r>
          </a:p>
          <a:p>
            <a:pPr lvl="1"/>
            <a:r>
              <a:rPr lang="en-US" sz="1400" dirty="0"/>
              <a:t> ↓</a:t>
            </a:r>
          </a:p>
          <a:p>
            <a:pPr lvl="1"/>
            <a:r>
              <a:rPr lang="en-US" sz="1400" dirty="0"/>
              <a:t>Rejected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New</a:t>
            </a:r>
          </a:p>
          <a:p>
            <a:pPr lvl="1"/>
            <a:r>
              <a:rPr lang="en-US" sz="1400" dirty="0"/>
              <a:t> ↓</a:t>
            </a:r>
          </a:p>
          <a:p>
            <a:pPr lvl="1"/>
            <a:r>
              <a:rPr lang="en-US" sz="1400" dirty="0"/>
              <a:t>Duplicate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New</a:t>
            </a:r>
          </a:p>
          <a:p>
            <a:pPr lvl="1"/>
            <a:r>
              <a:rPr lang="en-US" sz="1400" dirty="0"/>
              <a:t> ↓</a:t>
            </a:r>
          </a:p>
          <a:p>
            <a:pPr lvl="1"/>
            <a:r>
              <a:rPr lang="en-US" sz="1400" dirty="0"/>
              <a:t>Deferred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Fixed</a:t>
            </a:r>
          </a:p>
          <a:p>
            <a:pPr lvl="1"/>
            <a:r>
              <a:rPr lang="en-US" sz="1400" dirty="0"/>
              <a:t> ↓</a:t>
            </a:r>
          </a:p>
          <a:p>
            <a:pPr lvl="1"/>
            <a:r>
              <a:rPr lang="en-US" sz="1400" dirty="0"/>
              <a:t>Retest</a:t>
            </a:r>
          </a:p>
          <a:p>
            <a:pPr lvl="1"/>
            <a:r>
              <a:rPr lang="en-US" sz="1400" dirty="0"/>
              <a:t> ↓</a:t>
            </a:r>
          </a:p>
          <a:p>
            <a:pPr lvl="1"/>
            <a:r>
              <a:rPr lang="en-US" sz="1400" dirty="0"/>
              <a:t>Failed</a:t>
            </a:r>
          </a:p>
          <a:p>
            <a:pPr lvl="1"/>
            <a:r>
              <a:rPr lang="en-US" sz="1400" dirty="0"/>
              <a:t> ↓</a:t>
            </a:r>
          </a:p>
          <a:p>
            <a:pPr lvl="1"/>
            <a:r>
              <a:rPr lang="en-US" sz="1400" dirty="0"/>
              <a:t>Reopened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054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77AA-3C1F-5727-C849-B70FD880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Detailed Status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F1D5B-47EF-4D63-8E8C-DE0B1C459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New</a:t>
            </a:r>
          </a:p>
          <a:p>
            <a:pPr lvl="1"/>
            <a:r>
              <a:rPr lang="en-US" dirty="0"/>
              <a:t>Tester identifies a defect and logs it.</a:t>
            </a:r>
          </a:p>
          <a:p>
            <a:pPr lvl="2"/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Login button not working.</a:t>
            </a:r>
          </a:p>
          <a:p>
            <a:pPr marL="0" indent="0">
              <a:buNone/>
            </a:pPr>
            <a:r>
              <a:rPr lang="en-US" b="1" dirty="0"/>
              <a:t>Assigned</a:t>
            </a:r>
          </a:p>
          <a:p>
            <a:pPr lvl="1"/>
            <a:r>
              <a:rPr lang="en-US" dirty="0"/>
              <a:t>Test Lead assigns defect to developer.</a:t>
            </a:r>
          </a:p>
          <a:p>
            <a:pPr lvl="2"/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Assigned to Developer Rajesh.</a:t>
            </a:r>
          </a:p>
          <a:p>
            <a:pPr marL="0" indent="0">
              <a:buNone/>
            </a:pPr>
            <a:r>
              <a:rPr lang="en-US" b="1" dirty="0"/>
              <a:t>Open</a:t>
            </a:r>
          </a:p>
          <a:p>
            <a:pPr lvl="1"/>
            <a:r>
              <a:rPr lang="en-US" dirty="0"/>
              <a:t>Developer starts analyzing.</a:t>
            </a:r>
          </a:p>
          <a:p>
            <a:pPr marL="0" indent="0">
              <a:buNone/>
            </a:pPr>
            <a:r>
              <a:rPr lang="en-US" b="1" dirty="0"/>
              <a:t>Fixed</a:t>
            </a:r>
          </a:p>
          <a:p>
            <a:pPr lvl="1"/>
            <a:r>
              <a:rPr lang="en-US" dirty="0"/>
              <a:t>Developer claims issue is fixed.</a:t>
            </a:r>
          </a:p>
          <a:p>
            <a:pPr marL="0" indent="0">
              <a:buNone/>
            </a:pPr>
            <a:r>
              <a:rPr lang="en-US" b="1" dirty="0"/>
              <a:t>Retest</a:t>
            </a:r>
          </a:p>
          <a:p>
            <a:pPr lvl="1"/>
            <a:r>
              <a:rPr lang="en-US" dirty="0"/>
              <a:t>Tester tests the fix.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42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794A-8194-DA4A-C80A-D9A08E23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F1BC-9AAF-F010-6153-CD671AB93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Detailed Status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86D0C-5218-3F7E-766F-00F10CD86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Verified</a:t>
            </a:r>
          </a:p>
          <a:p>
            <a:pPr lvl="1"/>
            <a:r>
              <a:rPr lang="en-US" dirty="0"/>
              <a:t>Fix works successfully.</a:t>
            </a:r>
          </a:p>
          <a:p>
            <a:pPr marL="0" indent="0">
              <a:buNone/>
            </a:pPr>
            <a:r>
              <a:rPr lang="en-US" b="1" dirty="0"/>
              <a:t>Closed</a:t>
            </a:r>
          </a:p>
          <a:p>
            <a:pPr lvl="1"/>
            <a:r>
              <a:rPr lang="en-US" dirty="0"/>
              <a:t>Defect lifecycle completed.</a:t>
            </a:r>
          </a:p>
          <a:p>
            <a:pPr marL="0" indent="0">
              <a:buNone/>
            </a:pPr>
            <a:r>
              <a:rPr lang="en-US" b="1" dirty="0"/>
              <a:t>Reopened</a:t>
            </a:r>
          </a:p>
          <a:p>
            <a:pPr lvl="1"/>
            <a:r>
              <a:rPr lang="en-US" dirty="0"/>
              <a:t>Issue still exists after fix.</a:t>
            </a:r>
          </a:p>
          <a:p>
            <a:pPr lvl="2"/>
            <a:r>
              <a:rPr lang="en-US" dirty="0"/>
              <a:t>Example:</a:t>
            </a:r>
          </a:p>
          <a:p>
            <a:pPr lvl="3"/>
            <a:r>
              <a:rPr lang="en-US" dirty="0"/>
              <a:t>Developer fixes login issue.</a:t>
            </a:r>
          </a:p>
          <a:p>
            <a:pPr lvl="3"/>
            <a:r>
              <a:rPr lang="en-US" dirty="0"/>
              <a:t>Tester retests.</a:t>
            </a:r>
          </a:p>
          <a:p>
            <a:pPr lvl="4"/>
            <a:r>
              <a:rPr lang="en-US" dirty="0"/>
              <a:t>Login still fails.</a:t>
            </a:r>
          </a:p>
          <a:p>
            <a:pPr marL="0" indent="0">
              <a:buNone/>
            </a:pPr>
            <a:r>
              <a:rPr lang="en-US" dirty="0"/>
              <a:t>Status → Reopened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52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73D21-B360-6F4B-0D4E-FDADBFE69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BCC9-C146-21A0-E2D6-DFEB692E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Detailed Status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F6F23-D0ED-44F4-C0A8-1ABF2FD9E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Rejected</a:t>
            </a:r>
          </a:p>
          <a:p>
            <a:pPr lvl="1"/>
            <a:r>
              <a:rPr lang="en-US" dirty="0"/>
              <a:t>Developer says it is not a bug.</a:t>
            </a:r>
          </a:p>
          <a:p>
            <a:pPr lvl="2"/>
            <a:r>
              <a:rPr lang="en-US" dirty="0"/>
              <a:t>Example:</a:t>
            </a:r>
          </a:p>
          <a:p>
            <a:pPr lvl="3"/>
            <a:r>
              <a:rPr lang="en-US" dirty="0"/>
              <a:t>Requirement says age must be above 18.</a:t>
            </a:r>
          </a:p>
          <a:p>
            <a:pPr lvl="3"/>
            <a:r>
              <a:rPr lang="en-US" dirty="0"/>
              <a:t>Tester reports age 15 not accepted.</a:t>
            </a:r>
          </a:p>
          <a:p>
            <a:pPr lvl="3"/>
            <a:r>
              <a:rPr lang="en-US" dirty="0"/>
              <a:t>Developer rejects.</a:t>
            </a:r>
          </a:p>
          <a:p>
            <a:pPr marL="0" indent="0">
              <a:buNone/>
            </a:pPr>
            <a:r>
              <a:rPr lang="en-US" b="1" dirty="0"/>
              <a:t>Duplicate</a:t>
            </a:r>
          </a:p>
          <a:p>
            <a:pPr lvl="1"/>
            <a:r>
              <a:rPr lang="en-US" dirty="0"/>
              <a:t>Same defect already exists.</a:t>
            </a:r>
          </a:p>
          <a:p>
            <a:pPr marL="0" indent="0">
              <a:buNone/>
            </a:pPr>
            <a:r>
              <a:rPr lang="en-US" b="1" dirty="0"/>
              <a:t>Deferred</a:t>
            </a:r>
          </a:p>
          <a:p>
            <a:pPr lvl="1"/>
            <a:r>
              <a:rPr lang="en-US" dirty="0"/>
              <a:t>Fix postponed to future release.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0002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332B-F92A-C306-BED7-B9A34D465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Severity vs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DD42C-C4E7-5BC0-E95A-3427BD7E6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Severity</a:t>
            </a:r>
          </a:p>
          <a:p>
            <a:pPr lvl="1"/>
            <a:r>
              <a:rPr lang="en-US" dirty="0"/>
              <a:t>Impact of defect on application.</a:t>
            </a:r>
          </a:p>
          <a:p>
            <a:pPr lvl="1"/>
            <a:r>
              <a:rPr lang="en-US" dirty="0"/>
              <a:t>Asked by:</a:t>
            </a:r>
            <a:br>
              <a:rPr lang="en-US" dirty="0"/>
            </a:br>
            <a:r>
              <a:rPr lang="en-US" dirty="0"/>
              <a:t>Testing Team</a:t>
            </a:r>
          </a:p>
          <a:p>
            <a:pPr marL="0" indent="0">
              <a:buNone/>
            </a:pPr>
            <a:r>
              <a:rPr lang="en-US" b="1" dirty="0"/>
              <a:t>Priority</a:t>
            </a:r>
          </a:p>
          <a:p>
            <a:pPr lvl="1"/>
            <a:r>
              <a:rPr lang="en-US" dirty="0"/>
              <a:t>Urgency of fixing defect.</a:t>
            </a:r>
          </a:p>
          <a:p>
            <a:pPr lvl="1"/>
            <a:r>
              <a:rPr lang="en-US" dirty="0"/>
              <a:t>Decided by:</a:t>
            </a:r>
            <a:br>
              <a:rPr lang="en-US" dirty="0"/>
            </a:br>
            <a:r>
              <a:rPr lang="en-US" dirty="0"/>
              <a:t>Business Team / Product Owner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311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1DE4-CA66-E442-729C-5FA057BAB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Severity Levels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CEDB1D-1364-7DFD-F9FE-AD3AC4FF9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8360533"/>
              </p:ext>
            </p:extLst>
          </p:nvPr>
        </p:nvGraphicFramePr>
        <p:xfrm>
          <a:off x="960748" y="2012238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319708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6731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Severity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165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Critical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Application crash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31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Major functionality broken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0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partially affected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2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Cosmetic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38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37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C7E7-41F7-A49E-DECF-666750C3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Priority Levels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7E216D-99D0-B8F1-E691-9EC92CB687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187839"/>
              </p:ext>
            </p:extLst>
          </p:nvPr>
        </p:nvGraphicFramePr>
        <p:xfrm>
          <a:off x="838200" y="196596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452610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83382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15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Immediate 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652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 soon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511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Fix later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72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436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80D6-A368-4C66-35AE-5EBCDAC5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933C8-6852-9670-62D9-7A960A21E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Example 1</a:t>
            </a:r>
          </a:p>
          <a:p>
            <a:pPr lvl="1"/>
            <a:r>
              <a:rPr lang="en-US" dirty="0"/>
              <a:t>Payment page crashes.</a:t>
            </a:r>
          </a:p>
          <a:p>
            <a:pPr lvl="2"/>
            <a:r>
              <a:rPr lang="en-US" dirty="0"/>
              <a:t>Severity = Critical</a:t>
            </a:r>
          </a:p>
          <a:p>
            <a:pPr lvl="2"/>
            <a:r>
              <a:rPr lang="en-US" dirty="0"/>
              <a:t>Priority = High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 2</a:t>
            </a:r>
          </a:p>
          <a:p>
            <a:pPr lvl="1"/>
            <a:r>
              <a:rPr lang="en-US" dirty="0"/>
              <a:t>Company logo incorrect on homepage.</a:t>
            </a:r>
          </a:p>
          <a:p>
            <a:pPr lvl="2"/>
            <a:r>
              <a:rPr lang="en-US" dirty="0"/>
              <a:t>Severity = Low</a:t>
            </a:r>
          </a:p>
          <a:p>
            <a:pPr lvl="2"/>
            <a:r>
              <a:rPr lang="en-US" dirty="0"/>
              <a:t>Priority = High</a:t>
            </a:r>
          </a:p>
          <a:p>
            <a:pPr lvl="1"/>
            <a:r>
              <a:rPr lang="en-US" dirty="0"/>
              <a:t>Why?</a:t>
            </a:r>
          </a:p>
          <a:p>
            <a:pPr lvl="2"/>
            <a:r>
              <a:rPr lang="en-US" dirty="0"/>
              <a:t>Brand image affected.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 3</a:t>
            </a:r>
          </a:p>
          <a:p>
            <a:pPr lvl="1"/>
            <a:r>
              <a:rPr lang="en-US" dirty="0"/>
              <a:t>Unused admin report not working.</a:t>
            </a:r>
          </a:p>
          <a:p>
            <a:pPr lvl="2"/>
            <a:r>
              <a:rPr lang="en-US" dirty="0"/>
              <a:t>Severity = High</a:t>
            </a:r>
          </a:p>
          <a:p>
            <a:pPr lvl="2"/>
            <a:r>
              <a:rPr lang="en-US" dirty="0"/>
              <a:t>Priority = Low</a:t>
            </a:r>
          </a:p>
          <a:p>
            <a:pPr lvl="1"/>
            <a:r>
              <a:rPr lang="en-US" dirty="0"/>
              <a:t>Why?</a:t>
            </a:r>
          </a:p>
          <a:p>
            <a:pPr lvl="2"/>
            <a:r>
              <a:rPr lang="en-US" dirty="0"/>
              <a:t>Important functionality but rarely used.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24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08BC-1756-54FE-CCC6-891F507A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Severity-Priority Matrix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994EA5-C6FE-6374-4646-570DEC5D48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314481"/>
              </p:ext>
            </p:extLst>
          </p:nvPr>
        </p:nvGraphicFramePr>
        <p:xfrm>
          <a:off x="923041" y="2153640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123210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511095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85381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Severity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Payment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707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Rarely used report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59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Wrong company logo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19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Alignment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65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62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28AF-8AA5-5275-7A31-8EC7C8BA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Good Defect Report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95E95-1297-7392-7265-022E590F2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good defect report helps developers reproduce and fix issues quickly.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Clear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Reproducible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Precise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Complete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Objective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3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30A4-D612-2C73-F54E-33592864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Poor Defect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40967-2968-D4C2-3940-20B42E888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Login not working.</a:t>
            </a:r>
          </a:p>
          <a:p>
            <a:pPr marL="0" indent="0">
              <a:buNone/>
            </a:pPr>
            <a:r>
              <a:rPr lang="en-US" dirty="0"/>
              <a:t>Please fix.</a:t>
            </a:r>
          </a:p>
          <a:p>
            <a:pPr marL="0" indent="0">
              <a:buNone/>
            </a:pPr>
            <a:r>
              <a:rPr lang="en-US" dirty="0"/>
              <a:t>Bad because:</a:t>
            </a:r>
          </a:p>
          <a:p>
            <a:pPr lvl="1"/>
            <a:r>
              <a:rPr lang="en-US" dirty="0"/>
              <a:t>No steps </a:t>
            </a:r>
          </a:p>
          <a:p>
            <a:pPr lvl="1"/>
            <a:r>
              <a:rPr lang="en-US" dirty="0"/>
              <a:t>No evidence </a:t>
            </a:r>
          </a:p>
          <a:p>
            <a:pPr lvl="1"/>
            <a:r>
              <a:rPr lang="en-US" dirty="0"/>
              <a:t>No environment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316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FF83-572B-A41F-532A-E83D639C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Good Defect Report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701B5-6106-F93C-C18A-2851F77BE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User unable to login using valid credentials.</a:t>
            </a:r>
          </a:p>
          <a:p>
            <a:pPr marL="0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Environment:</a:t>
            </a:r>
          </a:p>
          <a:p>
            <a:pPr marL="457200" lvl="1" indent="0">
              <a:buNone/>
            </a:pPr>
            <a:r>
              <a:rPr lang="en-IN" dirty="0"/>
              <a:t>QA Environment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Steps:</a:t>
            </a:r>
          </a:p>
          <a:p>
            <a:pPr marL="457200" lvl="1" indent="0">
              <a:buNone/>
            </a:pPr>
            <a:r>
              <a:rPr lang="en-IN" dirty="0"/>
              <a:t>1. Open Login Page</a:t>
            </a:r>
          </a:p>
          <a:p>
            <a:pPr marL="457200" lvl="1" indent="0">
              <a:buNone/>
            </a:pPr>
            <a:r>
              <a:rPr lang="en-IN" dirty="0"/>
              <a:t>2. Enter valid username/password</a:t>
            </a:r>
          </a:p>
          <a:p>
            <a:pPr marL="457200" lvl="1" indent="0">
              <a:buNone/>
            </a:pPr>
            <a:r>
              <a:rPr lang="en-IN" dirty="0"/>
              <a:t>3. Click Login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Expected:</a:t>
            </a:r>
          </a:p>
          <a:p>
            <a:pPr marL="0" indent="0">
              <a:buNone/>
            </a:pPr>
            <a:r>
              <a:rPr lang="en-IN" dirty="0"/>
              <a:t>	Dashboard displayed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Actual:</a:t>
            </a:r>
          </a:p>
          <a:p>
            <a:pPr marL="0" indent="0">
              <a:buNone/>
            </a:pPr>
            <a:r>
              <a:rPr lang="en-IN" dirty="0"/>
              <a:t>	Error message shown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Evidence:</a:t>
            </a:r>
          </a:p>
          <a:p>
            <a:pPr marL="0" indent="0">
              <a:buNone/>
            </a:pPr>
            <a:r>
              <a:rPr lang="en-IN" dirty="0"/>
              <a:t>	Attached screenshot</a:t>
            </a:r>
          </a:p>
        </p:txBody>
      </p:sp>
    </p:spTree>
    <p:extLst>
      <p:ext uri="{BB962C8B-B14F-4D97-AF65-F5344CB8AC3E}">
        <p14:creationId xmlns:p14="http://schemas.microsoft.com/office/powerpoint/2010/main" val="1675593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AB8D-9BAA-5B9F-3D5C-8D9EFFD66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Defect Report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43E75-C88A-CD64-8170-5396C83F0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68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/>
              <a:t>Defect ID</a:t>
            </a:r>
          </a:p>
          <a:p>
            <a:pPr lvl="1"/>
            <a:r>
              <a:rPr lang="en-IN" sz="1400" dirty="0"/>
              <a:t>Unique identifier.</a:t>
            </a:r>
          </a:p>
          <a:p>
            <a:pPr marL="0" indent="0">
              <a:buNone/>
            </a:pPr>
            <a:r>
              <a:rPr lang="en-IN" sz="1400" dirty="0"/>
              <a:t>Example:</a:t>
            </a:r>
          </a:p>
          <a:p>
            <a:pPr lvl="1"/>
            <a:r>
              <a:rPr lang="en-IN" sz="1400" dirty="0"/>
              <a:t>BUG-101</a:t>
            </a:r>
            <a:br>
              <a:rPr lang="en-IN" sz="1400" dirty="0"/>
            </a:br>
            <a:r>
              <a:rPr lang="en-IN" sz="1400" dirty="0"/>
              <a:t>DEF-205</a:t>
            </a:r>
            <a:br>
              <a:rPr lang="en-IN" sz="1400" dirty="0"/>
            </a:br>
            <a:r>
              <a:rPr lang="en-IN" sz="1400" dirty="0"/>
              <a:t>JIRA-456</a:t>
            </a:r>
          </a:p>
          <a:p>
            <a:pPr marL="0" indent="0">
              <a:buNone/>
            </a:pPr>
            <a:r>
              <a:rPr lang="en-IN" sz="1400" dirty="0"/>
              <a:t>Summary</a:t>
            </a:r>
          </a:p>
          <a:p>
            <a:pPr marL="0" indent="0">
              <a:buNone/>
            </a:pPr>
            <a:r>
              <a:rPr lang="en-IN" sz="1400" dirty="0"/>
              <a:t>One-line description.</a:t>
            </a:r>
          </a:p>
          <a:p>
            <a:pPr marL="0" indent="0">
              <a:buNone/>
            </a:pPr>
            <a:r>
              <a:rPr lang="en-IN" sz="1400" dirty="0"/>
              <a:t>	Example</a:t>
            </a:r>
          </a:p>
          <a:p>
            <a:pPr marL="0" indent="0">
              <a:buNone/>
            </a:pPr>
            <a:r>
              <a:rPr lang="en-US" sz="1400" dirty="0"/>
              <a:t>		Login fails with valid credentials</a:t>
            </a:r>
          </a:p>
          <a:p>
            <a:pPr marL="0" indent="0">
              <a:buNone/>
            </a:pPr>
            <a:r>
              <a:rPr lang="en-US" sz="1400" b="1" dirty="0"/>
              <a:t>Description</a:t>
            </a:r>
          </a:p>
          <a:p>
            <a:pPr lvl="1"/>
            <a:r>
              <a:rPr lang="en-US" sz="1400" dirty="0"/>
              <a:t>Detailed explanation.</a:t>
            </a:r>
          </a:p>
          <a:p>
            <a:pPr lvl="2"/>
            <a:r>
              <a:rPr lang="en-US" sz="1400" dirty="0"/>
              <a:t>Example:</a:t>
            </a:r>
          </a:p>
          <a:p>
            <a:pPr lvl="3"/>
            <a:r>
              <a:rPr lang="en-US" sz="1400" dirty="0"/>
              <a:t>Users cannot login even after entering valid credentials.</a:t>
            </a:r>
            <a:br>
              <a:rPr lang="en-US" sz="1400" dirty="0"/>
            </a:br>
            <a:r>
              <a:rPr lang="en-US" sz="1400" dirty="0"/>
              <a:t>Issue observed in QA environment.</a:t>
            </a:r>
          </a:p>
          <a:p>
            <a:pPr marL="0" indent="0">
              <a:buNone/>
            </a:pPr>
            <a:r>
              <a:rPr lang="en-IN" sz="1400" dirty="0"/>
              <a:t>Steps to Reproduce</a:t>
            </a:r>
          </a:p>
          <a:p>
            <a:pPr marL="457200" lvl="1" indent="0">
              <a:buNone/>
            </a:pPr>
            <a:r>
              <a:rPr lang="en-US" sz="1400" dirty="0"/>
              <a:t>1. Launch application</a:t>
            </a:r>
          </a:p>
          <a:p>
            <a:pPr marL="457200" lvl="1" indent="0">
              <a:buNone/>
            </a:pPr>
            <a:r>
              <a:rPr lang="en-US" sz="1400" dirty="0"/>
              <a:t>2. Navigate to Login page</a:t>
            </a:r>
          </a:p>
          <a:p>
            <a:pPr marL="457200" lvl="1" indent="0">
              <a:buNone/>
            </a:pPr>
            <a:r>
              <a:rPr lang="en-US" sz="1400" dirty="0"/>
              <a:t>3. Enter valid credentials</a:t>
            </a:r>
          </a:p>
          <a:p>
            <a:pPr marL="457200" lvl="1" indent="0">
              <a:buNone/>
            </a:pPr>
            <a:r>
              <a:rPr lang="en-US" sz="1400" dirty="0"/>
              <a:t>4. Click Login</a:t>
            </a:r>
          </a:p>
          <a:p>
            <a:pPr marL="0" indent="0">
              <a:buNone/>
            </a:pPr>
            <a:r>
              <a:rPr lang="en-IN" sz="1400" dirty="0"/>
              <a:t>Expected Result</a:t>
            </a:r>
          </a:p>
          <a:p>
            <a:pPr marL="0" indent="0">
              <a:buNone/>
            </a:pPr>
            <a:r>
              <a:rPr lang="en-US" sz="1400" dirty="0"/>
              <a:t>	User should be redirected to dashboard.</a:t>
            </a:r>
          </a:p>
          <a:p>
            <a:pPr marL="0" indent="0">
              <a:buNone/>
            </a:pPr>
            <a:r>
              <a:rPr lang="en-IN" sz="1400" dirty="0"/>
              <a:t>Actual Result</a:t>
            </a:r>
          </a:p>
          <a:p>
            <a:pPr marL="0" indent="0">
              <a:buNone/>
            </a:pPr>
            <a:r>
              <a:rPr lang="en-IN" sz="1400" dirty="0"/>
              <a:t>	Invalid Credentials error displayed.</a:t>
            </a:r>
          </a:p>
          <a:p>
            <a:pPr marL="0" indent="0">
              <a:buNone/>
            </a:pPr>
            <a:r>
              <a:rPr lang="en-IN" sz="1400" dirty="0"/>
              <a:t>Severity – High</a:t>
            </a:r>
          </a:p>
          <a:p>
            <a:pPr marL="0" indent="0">
              <a:buNone/>
            </a:pPr>
            <a:r>
              <a:rPr lang="en-IN" sz="1400" dirty="0"/>
              <a:t>Priority – High</a:t>
            </a:r>
          </a:p>
          <a:p>
            <a:pPr marL="0" indent="0">
              <a:buNone/>
            </a:pPr>
            <a:r>
              <a:rPr lang="en-IN" sz="1400" dirty="0"/>
              <a:t>Environment</a:t>
            </a:r>
          </a:p>
          <a:p>
            <a:pPr marL="457200" lvl="1" indent="0">
              <a:buNone/>
            </a:pPr>
            <a:r>
              <a:rPr lang="en-US" sz="1400" dirty="0"/>
              <a:t>QA Environment</a:t>
            </a:r>
          </a:p>
          <a:p>
            <a:pPr marL="457200" lvl="1" indent="0">
              <a:buNone/>
            </a:pPr>
            <a:r>
              <a:rPr lang="en-US" sz="1400" dirty="0"/>
              <a:t>Windows 11</a:t>
            </a:r>
          </a:p>
          <a:p>
            <a:pPr marL="457200" lvl="1" indent="0">
              <a:buNone/>
            </a:pPr>
            <a:r>
              <a:rPr lang="en-US" sz="1400" dirty="0"/>
              <a:t>Chrome 137</a:t>
            </a:r>
          </a:p>
          <a:p>
            <a:pPr marL="457200" lvl="1" indent="0">
              <a:buNone/>
            </a:pPr>
            <a:r>
              <a:rPr lang="en-US" sz="1400" dirty="0"/>
              <a:t>Build 1.2.5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92872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C54E-CCE2-47AD-A3B0-9ACF21DC7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4A122-0F86-D5A5-DFD9-D991A7D7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Defect Report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F1B90-9ECA-CBFE-32EC-AA7885DA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68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Expected Result</a:t>
            </a:r>
          </a:p>
          <a:p>
            <a:pPr marL="0" indent="0">
              <a:buNone/>
            </a:pPr>
            <a:r>
              <a:rPr lang="en-US" sz="1400" dirty="0"/>
              <a:t>	User should be redirected to dashboard.</a:t>
            </a:r>
          </a:p>
          <a:p>
            <a:pPr marL="0" indent="0">
              <a:buNone/>
            </a:pPr>
            <a:r>
              <a:rPr lang="en-IN" sz="1400" dirty="0"/>
              <a:t>Actual Result</a:t>
            </a:r>
          </a:p>
          <a:p>
            <a:pPr marL="0" indent="0">
              <a:buNone/>
            </a:pPr>
            <a:r>
              <a:rPr lang="en-IN" sz="1400" dirty="0"/>
              <a:t>	Invalid Credentials error displayed.</a:t>
            </a:r>
          </a:p>
          <a:p>
            <a:pPr marL="0" indent="0">
              <a:buNone/>
            </a:pPr>
            <a:r>
              <a:rPr lang="en-IN" sz="1400" dirty="0"/>
              <a:t>Severity – High</a:t>
            </a:r>
          </a:p>
          <a:p>
            <a:pPr marL="0" indent="0">
              <a:buNone/>
            </a:pPr>
            <a:r>
              <a:rPr lang="en-IN" sz="1400" dirty="0"/>
              <a:t>Priority – High</a:t>
            </a:r>
          </a:p>
          <a:p>
            <a:pPr marL="0" indent="0">
              <a:buNone/>
            </a:pPr>
            <a:r>
              <a:rPr lang="en-IN" sz="1400" dirty="0"/>
              <a:t>Environment</a:t>
            </a:r>
          </a:p>
          <a:p>
            <a:pPr marL="457200" lvl="1" indent="0">
              <a:buNone/>
            </a:pPr>
            <a:r>
              <a:rPr lang="en-US" sz="1400" dirty="0"/>
              <a:t>QA Environment</a:t>
            </a:r>
          </a:p>
          <a:p>
            <a:pPr marL="457200" lvl="1" indent="0">
              <a:buNone/>
            </a:pPr>
            <a:r>
              <a:rPr lang="en-US" sz="1400" dirty="0"/>
              <a:t>Windows 11</a:t>
            </a:r>
          </a:p>
          <a:p>
            <a:pPr marL="457200" lvl="1" indent="0">
              <a:buNone/>
            </a:pPr>
            <a:r>
              <a:rPr lang="en-US" sz="1400" dirty="0"/>
              <a:t>Chrome 137</a:t>
            </a:r>
          </a:p>
          <a:p>
            <a:pPr marL="457200" lvl="1" indent="0">
              <a:buNone/>
            </a:pPr>
            <a:r>
              <a:rPr lang="en-US" sz="1400" dirty="0"/>
              <a:t>Build 1.2.5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Evidence</a:t>
            </a:r>
          </a:p>
          <a:p>
            <a:pPr lvl="1"/>
            <a:r>
              <a:rPr lang="en-US" sz="1400" dirty="0"/>
              <a:t>Screenshot </a:t>
            </a:r>
          </a:p>
          <a:p>
            <a:pPr lvl="1"/>
            <a:r>
              <a:rPr lang="en-US" sz="1400" dirty="0"/>
              <a:t>Video </a:t>
            </a:r>
          </a:p>
          <a:p>
            <a:pPr lvl="1"/>
            <a:r>
              <a:rPr lang="en-US" sz="1400" dirty="0"/>
              <a:t>Logs </a:t>
            </a:r>
          </a:p>
          <a:p>
            <a:pPr lvl="1"/>
            <a:r>
              <a:rPr lang="en-US" sz="1400" dirty="0"/>
              <a:t>Error message </a:t>
            </a:r>
          </a:p>
          <a:p>
            <a:pPr lvl="2"/>
            <a:r>
              <a:rPr lang="en-US" sz="600" b="1" dirty="0"/>
              <a:t>Example:</a:t>
            </a:r>
          </a:p>
          <a:p>
            <a:pPr lvl="2"/>
            <a:r>
              <a:rPr lang="en-US" sz="600" b="1" dirty="0"/>
              <a:t>Screenshot attached.</a:t>
            </a:r>
          </a:p>
          <a:p>
            <a:pPr marL="457200" lvl="1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70018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057E-0DC8-8ECC-8162-E40319076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Defect Template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33FE26-D8C8-EE34-627F-DEF754CEDD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790639"/>
              </p:ext>
            </p:extLst>
          </p:nvPr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006291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260377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987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Defect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BUG-101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979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Login fails with valid credentials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23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unable to 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Step1, Step2, Step3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948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 successful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716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displayed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843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Severity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29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04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QA, Chrome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36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Screenshot attached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583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613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7C118-BE19-8375-0D1B-F11EC495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Defect Triage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0F6C-11DA-AE2C-804A-77250C82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 is Defect Triage?</a:t>
            </a:r>
          </a:p>
          <a:p>
            <a:pPr lvl="1"/>
            <a:r>
              <a:rPr lang="en-US" dirty="0"/>
              <a:t>Meeting conducted to review defects and decide:</a:t>
            </a:r>
          </a:p>
          <a:p>
            <a:pPr lvl="2"/>
            <a:r>
              <a:rPr lang="en-US" dirty="0"/>
              <a:t>Valid or Invalid </a:t>
            </a:r>
          </a:p>
          <a:p>
            <a:pPr lvl="2"/>
            <a:r>
              <a:rPr lang="en-US" dirty="0"/>
              <a:t>Severity </a:t>
            </a:r>
          </a:p>
          <a:p>
            <a:pPr lvl="2"/>
            <a:r>
              <a:rPr lang="en-US" dirty="0"/>
              <a:t>Priority </a:t>
            </a:r>
          </a:p>
          <a:p>
            <a:pPr lvl="2"/>
            <a:r>
              <a:rPr lang="en-US" dirty="0"/>
              <a:t>Release impact </a:t>
            </a:r>
          </a:p>
          <a:p>
            <a:pPr lvl="2"/>
            <a:r>
              <a:rPr lang="en-US" dirty="0"/>
              <a:t>Fix timeline </a:t>
            </a:r>
          </a:p>
          <a:p>
            <a:pPr marL="0" indent="0">
              <a:buNone/>
            </a:pPr>
            <a:r>
              <a:rPr lang="en-US" b="1" dirty="0"/>
              <a:t>Participants</a:t>
            </a:r>
          </a:p>
          <a:p>
            <a:pPr lvl="1"/>
            <a:r>
              <a:rPr lang="en-US" dirty="0"/>
              <a:t>Test Lead </a:t>
            </a:r>
          </a:p>
          <a:p>
            <a:pPr lvl="1"/>
            <a:r>
              <a:rPr lang="en-US" dirty="0"/>
              <a:t>QA Team </a:t>
            </a:r>
          </a:p>
          <a:p>
            <a:pPr lvl="1"/>
            <a:r>
              <a:rPr lang="en-US" dirty="0"/>
              <a:t>Developer </a:t>
            </a:r>
          </a:p>
          <a:p>
            <a:pPr lvl="1"/>
            <a:r>
              <a:rPr lang="en-US" dirty="0"/>
              <a:t>Product Owner </a:t>
            </a:r>
          </a:p>
          <a:p>
            <a:pPr lvl="1"/>
            <a:r>
              <a:rPr lang="en-US" dirty="0"/>
              <a:t>Project Manager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896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AC151-ED3F-D834-B27C-E01EA940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567E-D832-64C9-CD22-3554400F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Defect Triage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69E29-C25A-0BF0-DC1E-FCA605ECD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Example</a:t>
            </a:r>
          </a:p>
          <a:p>
            <a:pPr marL="0" indent="0">
              <a:buNone/>
            </a:pPr>
            <a:r>
              <a:rPr lang="en-US" dirty="0"/>
              <a:t>Defect</a:t>
            </a:r>
          </a:p>
          <a:p>
            <a:pPr lvl="1"/>
            <a:r>
              <a:rPr lang="en-US" dirty="0"/>
              <a:t>Home page logo wrong.</a:t>
            </a:r>
          </a:p>
          <a:p>
            <a:pPr marL="0" indent="0">
              <a:buNone/>
            </a:pPr>
            <a:r>
              <a:rPr lang="en-US" dirty="0"/>
              <a:t>Discussion:</a:t>
            </a:r>
          </a:p>
          <a:p>
            <a:pPr lvl="1"/>
            <a:r>
              <a:rPr lang="en-US" dirty="0"/>
              <a:t>QA:</a:t>
            </a:r>
            <a:br>
              <a:rPr lang="en-US" dirty="0"/>
            </a:br>
            <a:r>
              <a:rPr lang="en-US" dirty="0"/>
              <a:t>Brand image affected.</a:t>
            </a:r>
          </a:p>
          <a:p>
            <a:pPr lvl="1"/>
            <a:r>
              <a:rPr lang="en-US" dirty="0"/>
              <a:t>Developer:</a:t>
            </a:r>
            <a:br>
              <a:rPr lang="en-US" dirty="0"/>
            </a:br>
            <a:r>
              <a:rPr lang="en-US" dirty="0"/>
              <a:t>Easy fix.</a:t>
            </a:r>
          </a:p>
          <a:p>
            <a:pPr lvl="1"/>
            <a:r>
              <a:rPr lang="en-US" dirty="0"/>
              <a:t>Product Owner:</a:t>
            </a:r>
            <a:br>
              <a:rPr lang="en-US" dirty="0"/>
            </a:br>
            <a:r>
              <a:rPr lang="en-US" dirty="0"/>
              <a:t>Fix before release.</a:t>
            </a:r>
          </a:p>
          <a:p>
            <a:pPr marL="0" indent="0">
              <a:buNone/>
            </a:pPr>
            <a:r>
              <a:rPr lang="en-US" dirty="0"/>
              <a:t>Decision:</a:t>
            </a:r>
          </a:p>
          <a:p>
            <a:pPr lvl="1"/>
            <a:r>
              <a:rPr lang="en-US" dirty="0"/>
              <a:t>Priority = High</a:t>
            </a:r>
          </a:p>
          <a:p>
            <a:pPr lvl="1"/>
            <a:r>
              <a:rPr lang="en-US" dirty="0"/>
              <a:t>Severity = Low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798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F4C1-DC6B-0450-F700-C2ED8517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Defect Retesting and 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AF13A-D402-2E3F-4BC7-FB76ED9DC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Retesting</a:t>
            </a:r>
          </a:p>
          <a:p>
            <a:pPr lvl="1"/>
            <a:r>
              <a:rPr lang="en-US" dirty="0"/>
              <a:t>Testing the fixed defect.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Original Defect:</a:t>
            </a:r>
          </a:p>
          <a:p>
            <a:pPr lvl="2"/>
            <a:r>
              <a:rPr lang="en-US" dirty="0"/>
              <a:t>Login failure</a:t>
            </a:r>
          </a:p>
          <a:p>
            <a:pPr marL="0" indent="0">
              <a:buNone/>
            </a:pPr>
            <a:r>
              <a:rPr lang="en-US" dirty="0"/>
              <a:t>Developer fixes.</a:t>
            </a:r>
          </a:p>
          <a:p>
            <a:pPr marL="0" indent="0">
              <a:buNone/>
            </a:pPr>
            <a:r>
              <a:rPr lang="en-US" dirty="0"/>
              <a:t>Tester retests.</a:t>
            </a:r>
          </a:p>
          <a:p>
            <a:pPr marL="0" indent="0">
              <a:buNone/>
            </a:pPr>
            <a:r>
              <a:rPr lang="en-US" dirty="0"/>
              <a:t>Result:</a:t>
            </a:r>
          </a:p>
          <a:p>
            <a:pPr lvl="1"/>
            <a:r>
              <a:rPr lang="en-US" dirty="0"/>
              <a:t>Login successful.</a:t>
            </a:r>
          </a:p>
          <a:p>
            <a:pPr marL="0" indent="0">
              <a:buNone/>
            </a:pPr>
            <a:r>
              <a:rPr lang="en-US" dirty="0"/>
              <a:t>Status:</a:t>
            </a:r>
          </a:p>
          <a:p>
            <a:pPr lvl="1"/>
            <a:r>
              <a:rPr lang="en-US" dirty="0"/>
              <a:t>Verified</a:t>
            </a:r>
          </a:p>
          <a:p>
            <a:pPr marL="0" indent="0">
              <a:buNone/>
            </a:pPr>
            <a:r>
              <a:rPr lang="en-US" dirty="0"/>
              <a:t>Closure</a:t>
            </a:r>
          </a:p>
          <a:p>
            <a:pPr lvl="1"/>
            <a:r>
              <a:rPr lang="en-US" dirty="0"/>
              <a:t>Conditions:</a:t>
            </a:r>
          </a:p>
          <a:p>
            <a:pPr lvl="2"/>
            <a:r>
              <a:rPr lang="en-US" dirty="0"/>
              <a:t>✓ Issue fixed</a:t>
            </a:r>
          </a:p>
          <a:p>
            <a:pPr lvl="2"/>
            <a:r>
              <a:rPr lang="en-US" dirty="0"/>
              <a:t>✓ Retested</a:t>
            </a:r>
          </a:p>
          <a:p>
            <a:pPr lvl="2"/>
            <a:r>
              <a:rPr lang="en-US" dirty="0"/>
              <a:t>✓ No side effects</a:t>
            </a:r>
          </a:p>
          <a:p>
            <a:pPr marL="0" indent="0">
              <a:buNone/>
            </a:pPr>
            <a:r>
              <a:rPr lang="en-US" dirty="0"/>
              <a:t>Status:</a:t>
            </a:r>
          </a:p>
          <a:p>
            <a:pPr lvl="1"/>
            <a:r>
              <a:rPr lang="en-US" dirty="0"/>
              <a:t>Closed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427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3D60-2C05-C951-A224-1E6CC8A06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Reopening Defects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0E86E-DCD1-FA6C-3A69-FF8D6EB1D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When defect still exists after fix.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lvl="1"/>
            <a:r>
              <a:rPr lang="en-US" dirty="0"/>
              <a:t>Defect:</a:t>
            </a:r>
          </a:p>
          <a:p>
            <a:pPr lvl="2"/>
            <a:r>
              <a:rPr lang="en-US" dirty="0"/>
              <a:t>PDF download not working.</a:t>
            </a:r>
          </a:p>
          <a:p>
            <a:pPr lvl="2"/>
            <a:r>
              <a:rPr lang="en-US" dirty="0"/>
              <a:t>Developer fixes.</a:t>
            </a:r>
          </a:p>
          <a:p>
            <a:pPr lvl="2"/>
            <a:r>
              <a:rPr lang="en-US" dirty="0"/>
              <a:t>Tester retests.</a:t>
            </a:r>
          </a:p>
          <a:p>
            <a:pPr lvl="2"/>
            <a:r>
              <a:rPr lang="en-US" dirty="0"/>
              <a:t>PDF generated but corrupted.</a:t>
            </a:r>
          </a:p>
          <a:p>
            <a:pPr lvl="1"/>
            <a:r>
              <a:rPr lang="en-US" dirty="0"/>
              <a:t>Result:</a:t>
            </a:r>
          </a:p>
          <a:p>
            <a:pPr lvl="2"/>
            <a:r>
              <a:rPr lang="en-US" dirty="0"/>
              <a:t>Status = Reopened</a:t>
            </a:r>
          </a:p>
          <a:p>
            <a:pPr marL="0" indent="0">
              <a:buNone/>
            </a:pPr>
            <a:r>
              <a:rPr lang="en-US" b="1" dirty="0"/>
              <a:t>Best Practice</a:t>
            </a:r>
          </a:p>
          <a:p>
            <a:pPr marL="0" indent="0">
              <a:buNone/>
            </a:pPr>
            <a:r>
              <a:rPr lang="en-US" dirty="0"/>
              <a:t>Always provide:</a:t>
            </a:r>
          </a:p>
          <a:p>
            <a:pPr lvl="1"/>
            <a:r>
              <a:rPr lang="en-US" dirty="0"/>
              <a:t>New screenshots </a:t>
            </a:r>
          </a:p>
          <a:p>
            <a:pPr lvl="1"/>
            <a:r>
              <a:rPr lang="en-US" dirty="0"/>
              <a:t>Logs </a:t>
            </a:r>
          </a:p>
          <a:p>
            <a:pPr lvl="1"/>
            <a:r>
              <a:rPr lang="en-US" dirty="0"/>
              <a:t>Updated observations </a:t>
            </a:r>
          </a:p>
          <a:p>
            <a:pPr marL="0" indent="0">
              <a:buNone/>
            </a:pPr>
            <a:r>
              <a:rPr lang="en-US" dirty="0"/>
              <a:t>while reopening.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958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DED92-CDC0-19E4-3DA0-EEF9EF98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Defect Ageing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857BF-A387-391B-1A79-DBAF9A40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/>
              <a:t>What is Defect Ageing?</a:t>
            </a:r>
          </a:p>
          <a:p>
            <a:pPr lvl="1"/>
            <a:r>
              <a:rPr lang="en-US" sz="1900" dirty="0"/>
              <a:t>Number of days defect remains unresolved.</a:t>
            </a:r>
          </a:p>
          <a:p>
            <a:pPr marL="0" indent="0">
              <a:buNone/>
            </a:pPr>
            <a:r>
              <a:rPr lang="en-US" sz="1900" b="1" dirty="0"/>
              <a:t>Formula</a:t>
            </a:r>
          </a:p>
          <a:p>
            <a:pPr marL="457200" lvl="1" indent="0">
              <a:buNone/>
            </a:pPr>
            <a:r>
              <a:rPr lang="en-US" sz="1900" dirty="0"/>
              <a:t>Current Date - Defect Creation Date</a:t>
            </a:r>
          </a:p>
          <a:p>
            <a:pPr marL="0" indent="0">
              <a:buNone/>
            </a:pPr>
            <a:r>
              <a:rPr lang="en-US" sz="1900" b="1" dirty="0"/>
              <a:t>Example</a:t>
            </a:r>
          </a:p>
          <a:p>
            <a:pPr marL="0" indent="0">
              <a:buNone/>
            </a:pPr>
            <a:r>
              <a:rPr lang="en-US" sz="1900" dirty="0"/>
              <a:t>Defect Created:</a:t>
            </a:r>
          </a:p>
          <a:p>
            <a:pPr marL="0" indent="0">
              <a:buNone/>
            </a:pPr>
            <a:r>
              <a:rPr lang="en-US" sz="1900" dirty="0"/>
              <a:t>	1-Jan</a:t>
            </a:r>
          </a:p>
          <a:p>
            <a:pPr marL="0" indent="0">
              <a:buNone/>
            </a:pPr>
            <a:r>
              <a:rPr lang="en-US" sz="1900" dirty="0"/>
              <a:t>Current Date:</a:t>
            </a:r>
          </a:p>
          <a:p>
            <a:pPr marL="0" indent="0">
              <a:buNone/>
            </a:pPr>
            <a:r>
              <a:rPr lang="en-US" sz="1900" dirty="0"/>
              <a:t>	10-Jan</a:t>
            </a:r>
          </a:p>
          <a:p>
            <a:pPr marL="0" indent="0">
              <a:buNone/>
            </a:pPr>
            <a:r>
              <a:rPr lang="en-US" sz="1900" dirty="0"/>
              <a:t>Age:</a:t>
            </a:r>
          </a:p>
          <a:p>
            <a:pPr marL="0" indent="0">
              <a:buNone/>
            </a:pPr>
            <a:r>
              <a:rPr lang="en-US" sz="1900" dirty="0"/>
              <a:t>	9 Days</a:t>
            </a:r>
          </a:p>
          <a:p>
            <a:pPr marL="0" indent="0">
              <a:buNone/>
            </a:pPr>
            <a:r>
              <a:rPr lang="en-IN" sz="1700" dirty="0"/>
              <a:t>Ageing Report =&gt;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97C5D7-1461-DD52-1BE2-E106D42CA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285131"/>
              </p:ext>
            </p:extLst>
          </p:nvPr>
        </p:nvGraphicFramePr>
        <p:xfrm>
          <a:off x="3242035" y="5029835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776402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46204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44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BUG-101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528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BUG-102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933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BUG-103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804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518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75383-C20C-922B-8E3C-9E4824C5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Defect Reporting and Communication Etiquette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4BBE1-C142-4D79-389A-9E385BC3B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tester reports facts, not opinions.</a:t>
            </a:r>
          </a:p>
          <a:p>
            <a:pPr marL="0" indent="0">
              <a:buNone/>
            </a:pPr>
            <a:r>
              <a:rPr lang="en-US" b="1" dirty="0"/>
              <a:t>Wrong Way</a:t>
            </a:r>
          </a:p>
          <a:p>
            <a:pPr lvl="1"/>
            <a:r>
              <a:rPr lang="en-US" dirty="0"/>
              <a:t>Developer has written bad code.</a:t>
            </a:r>
          </a:p>
          <a:p>
            <a:pPr marL="0" indent="0">
              <a:buNone/>
            </a:pPr>
            <a:r>
              <a:rPr lang="en-US" b="1" dirty="0"/>
              <a:t>Correct Way</a:t>
            </a:r>
          </a:p>
          <a:p>
            <a:pPr lvl="1"/>
            <a:r>
              <a:rPr lang="en-US" dirty="0"/>
              <a:t>Issue reproduced consistently in QA environment.</a:t>
            </a:r>
            <a:br>
              <a:rPr lang="en-US" dirty="0"/>
            </a:br>
            <a:r>
              <a:rPr lang="en-US" dirty="0"/>
              <a:t>Attached logs and screenshots.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053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6D5D-F4FF-0380-F4A2-F3260797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2B2AC-AA7B-694A-BA76-0ED8CA44F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Be Professional</a:t>
            </a:r>
          </a:p>
          <a:p>
            <a:pPr lvl="1"/>
            <a:r>
              <a:rPr lang="en-US" dirty="0"/>
              <a:t>Use:</a:t>
            </a:r>
          </a:p>
          <a:p>
            <a:pPr marL="914400" lvl="2" indent="0">
              <a:buNone/>
            </a:pPr>
            <a:r>
              <a:rPr lang="en-US" dirty="0"/>
              <a:t>Observed</a:t>
            </a:r>
            <a:br>
              <a:rPr lang="en-US" dirty="0"/>
            </a:br>
            <a:r>
              <a:rPr lang="en-US" dirty="0"/>
              <a:t>Expected</a:t>
            </a:r>
            <a:br>
              <a:rPr lang="en-US" dirty="0"/>
            </a:br>
            <a:r>
              <a:rPr lang="en-US" dirty="0"/>
              <a:t>Actual</a:t>
            </a:r>
          </a:p>
          <a:p>
            <a:pPr lvl="1"/>
            <a:r>
              <a:rPr lang="en-US" dirty="0"/>
              <a:t>Avoid:</a:t>
            </a:r>
          </a:p>
          <a:p>
            <a:pPr marL="457200" lvl="1" indent="0">
              <a:buNone/>
            </a:pPr>
            <a:r>
              <a:rPr lang="en-US" dirty="0"/>
              <a:t>	Broken</a:t>
            </a:r>
            <a:br>
              <a:rPr lang="en-US" dirty="0"/>
            </a:br>
            <a:r>
              <a:rPr lang="en-US" dirty="0"/>
              <a:t>	Terrible</a:t>
            </a:r>
            <a:br>
              <a:rPr lang="en-US" dirty="0"/>
            </a:br>
            <a:r>
              <a:rPr lang="en-US" dirty="0"/>
              <a:t>	Bad coding</a:t>
            </a:r>
          </a:p>
          <a:p>
            <a:pPr marL="0" indent="0">
              <a:buNone/>
            </a:pPr>
            <a:r>
              <a:rPr lang="en-US" b="1" dirty="0"/>
              <a:t>Attach Evidence</a:t>
            </a:r>
          </a:p>
          <a:p>
            <a:pPr lvl="1"/>
            <a:r>
              <a:rPr lang="en-US" dirty="0"/>
              <a:t>Always include:</a:t>
            </a:r>
          </a:p>
          <a:p>
            <a:pPr lvl="2"/>
            <a:r>
              <a:rPr lang="en-US" dirty="0"/>
              <a:t>Screenshot </a:t>
            </a:r>
          </a:p>
          <a:p>
            <a:pPr lvl="2"/>
            <a:r>
              <a:rPr lang="en-US" dirty="0"/>
              <a:t>Video </a:t>
            </a:r>
          </a:p>
          <a:p>
            <a:pPr lvl="2"/>
            <a:r>
              <a:rPr lang="en-US" dirty="0"/>
              <a:t>Logs </a:t>
            </a:r>
          </a:p>
          <a:p>
            <a:pPr marL="0" indent="0">
              <a:buNone/>
            </a:pPr>
            <a:r>
              <a:rPr lang="en-US" b="1" dirty="0"/>
              <a:t>Be Reproducible</a:t>
            </a:r>
          </a:p>
          <a:p>
            <a:pPr lvl="1"/>
            <a:r>
              <a:rPr lang="en-US" dirty="0"/>
              <a:t>Developers should be able to reproduce issue.</a:t>
            </a:r>
          </a:p>
          <a:p>
            <a:pPr marL="0" indent="0">
              <a:buNone/>
            </a:pPr>
            <a:r>
              <a:rPr lang="en-US" b="1" dirty="0"/>
              <a:t>Use Clear Titles</a:t>
            </a:r>
          </a:p>
          <a:p>
            <a:pPr lvl="1"/>
            <a:r>
              <a:rPr lang="en-US" dirty="0"/>
              <a:t>Bad:</a:t>
            </a:r>
          </a:p>
          <a:p>
            <a:pPr lvl="2"/>
            <a:r>
              <a:rPr lang="en-US" dirty="0"/>
              <a:t>Issue in page</a:t>
            </a:r>
          </a:p>
          <a:p>
            <a:pPr lvl="1"/>
            <a:r>
              <a:rPr lang="en-US" dirty="0"/>
              <a:t>Good:</a:t>
            </a:r>
          </a:p>
          <a:p>
            <a:pPr lvl="2"/>
            <a:r>
              <a:rPr lang="en-US" dirty="0"/>
              <a:t>User unable to update profile after password change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335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1067</Words>
  <Application>Microsoft Office PowerPoint</Application>
  <PresentationFormat>Widescreen</PresentationFormat>
  <Paragraphs>379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Defect Lifecycle and Defect Reporting</vt:lpstr>
      <vt:lpstr>What is a Defect?</vt:lpstr>
      <vt:lpstr>Terminologies</vt:lpstr>
      <vt:lpstr>Defect Lifecycle</vt:lpstr>
      <vt:lpstr>Detailed Status Explanation</vt:lpstr>
      <vt:lpstr>Detailed Status Explanation</vt:lpstr>
      <vt:lpstr>Detailed Status Explanation</vt:lpstr>
      <vt:lpstr>Severity vs Priority</vt:lpstr>
      <vt:lpstr>Severity Levels</vt:lpstr>
      <vt:lpstr>Priority Levels</vt:lpstr>
      <vt:lpstr>Examples</vt:lpstr>
      <vt:lpstr>Severity-Priority Matrix</vt:lpstr>
      <vt:lpstr>Writing a Good Defect Report</vt:lpstr>
      <vt:lpstr>Poor Defect Report</vt:lpstr>
      <vt:lpstr>Good Defect Report </vt:lpstr>
      <vt:lpstr>Defect Report Fields</vt:lpstr>
      <vt:lpstr>Defect Report Fields</vt:lpstr>
      <vt:lpstr>Sample Defect Template</vt:lpstr>
      <vt:lpstr>Defect Triage</vt:lpstr>
      <vt:lpstr>Defect Triage</vt:lpstr>
      <vt:lpstr>Defect Retesting and Closure</vt:lpstr>
      <vt:lpstr>Reopening Defects</vt:lpstr>
      <vt:lpstr>Defect Ageing Overview</vt:lpstr>
      <vt:lpstr>Defect Reporting and Communication Etiquette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6</cp:revision>
  <dcterms:created xsi:type="dcterms:W3CDTF">2026-06-24T03:18:32Z</dcterms:created>
  <dcterms:modified xsi:type="dcterms:W3CDTF">2026-06-24T04:51:00Z</dcterms:modified>
</cp:coreProperties>
</file>