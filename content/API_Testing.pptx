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6283" y="515873"/>
            <a:ext cx="460819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C6D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5C8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C6D7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C6D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5C8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C6D7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C6D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C6D7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C6D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C6D7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C6D7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63124" y="5853382"/>
            <a:ext cx="591958" cy="7752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039367"/>
            <a:ext cx="12191999" cy="4876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52785" y="213359"/>
            <a:ext cx="1419447" cy="5013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05800" y="3047"/>
            <a:ext cx="3791711" cy="9342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283" y="515873"/>
            <a:ext cx="7538084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C6D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6283" y="1339062"/>
            <a:ext cx="11369675" cy="450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5C8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51742" y="6524504"/>
            <a:ext cx="19177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C6D7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neonline.com/calculator.asmx?wsd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sonplaceholder.typicode.com/users/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qres.in/api/users?page=2" TargetMode="External"/><Relationship Id="rId2" Type="http://schemas.openxmlformats.org/officeDocument/2006/relationships/hyperlink" Target="https://reqres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hyperlink" Target="https://reqres.in/api/users" TargetMode="External"/><Relationship Id="rId4" Type="http://schemas.openxmlformats.org/officeDocument/2006/relationships/hyperlink" Target="https://reqres.in/api/users/2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598289" y="2766186"/>
            <a:ext cx="236601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FFFFFF"/>
                </a:solidFill>
              </a:rPr>
              <a:t>API</a:t>
            </a:r>
            <a:r>
              <a:rPr sz="3400" spc="-65" dirty="0">
                <a:solidFill>
                  <a:srgbClr val="FFFFFF"/>
                </a:solidFill>
              </a:rPr>
              <a:t> </a:t>
            </a:r>
            <a:r>
              <a:rPr sz="3400" spc="-30" dirty="0">
                <a:solidFill>
                  <a:srgbClr val="FFFFFF"/>
                </a:solidFill>
              </a:rPr>
              <a:t>Testing</a:t>
            </a:r>
            <a:endParaRPr sz="3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9367"/>
            <a:ext cx="12191999" cy="487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283" y="1230681"/>
            <a:ext cx="11535156" cy="5446776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spc="-80" dirty="0"/>
              <a:t> </a:t>
            </a:r>
            <a:r>
              <a:rPr dirty="0"/>
              <a:t>Programming</a:t>
            </a:r>
            <a:r>
              <a:rPr spc="-75" dirty="0"/>
              <a:t> </a:t>
            </a:r>
            <a:r>
              <a:rPr spc="-10" dirty="0"/>
              <a:t>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65" dirty="0"/>
              <a:t> </a:t>
            </a:r>
            <a:r>
              <a:rPr spc="-10" dirty="0"/>
              <a:t>Services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98" y="1524000"/>
            <a:ext cx="10181845" cy="47716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SOAP</a:t>
            </a:r>
            <a:r>
              <a:rPr spc="-105" dirty="0"/>
              <a:t> </a:t>
            </a:r>
            <a:r>
              <a:rPr dirty="0"/>
              <a:t>Web</a:t>
            </a:r>
            <a:r>
              <a:rPr spc="-45" dirty="0"/>
              <a:t> </a:t>
            </a:r>
            <a:r>
              <a:rPr dirty="0"/>
              <a:t>Service</a:t>
            </a:r>
            <a:r>
              <a:rPr spc="-45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dirty="0"/>
              <a:t>Simple</a:t>
            </a:r>
            <a:r>
              <a:rPr spc="-45" dirty="0"/>
              <a:t> </a:t>
            </a:r>
            <a:r>
              <a:rPr dirty="0"/>
              <a:t>Object</a:t>
            </a:r>
            <a:r>
              <a:rPr spc="-155" dirty="0"/>
              <a:t> </a:t>
            </a:r>
            <a:r>
              <a:rPr dirty="0"/>
              <a:t>Access</a:t>
            </a:r>
            <a:r>
              <a:rPr spc="-15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43939"/>
            <a:ext cx="11217275" cy="19278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675"/>
              </a:spcBef>
              <a:buChar char="•"/>
              <a:tabLst>
                <a:tab pos="140335" algn="l"/>
              </a:tabLst>
            </a:pP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WSDL</a:t>
            </a:r>
            <a:r>
              <a:rPr sz="1600" spc="-10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defines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services</a:t>
            </a:r>
            <a:r>
              <a:rPr sz="16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provided</a:t>
            </a:r>
            <a:r>
              <a:rPr sz="16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by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Web</a:t>
            </a:r>
            <a:r>
              <a:rPr sz="16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5C84"/>
                </a:solidFill>
                <a:latin typeface="Arial MT"/>
                <a:cs typeface="Arial MT"/>
              </a:rPr>
              <a:t>Service</a:t>
            </a:r>
            <a:endParaRPr sz="1600">
              <a:latin typeface="Arial MT"/>
              <a:cs typeface="Arial MT"/>
            </a:endParaRPr>
          </a:p>
          <a:p>
            <a:pPr marL="137160" indent="-124460">
              <a:lnSpc>
                <a:spcPct val="100000"/>
              </a:lnSpc>
              <a:spcBef>
                <a:spcPts val="575"/>
              </a:spcBef>
              <a:buChar char="•"/>
              <a:tabLst>
                <a:tab pos="137160" algn="l"/>
              </a:tabLst>
            </a:pP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service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5C84"/>
                </a:solidFill>
                <a:latin typeface="Arial MT"/>
                <a:cs typeface="Arial MT"/>
              </a:rPr>
              <a:t>discoverable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via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UDDI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(Universal</a:t>
            </a:r>
            <a:r>
              <a:rPr sz="16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Description,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Discovery</a:t>
            </a:r>
            <a:r>
              <a:rPr sz="16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&amp;</a:t>
            </a:r>
            <a:r>
              <a:rPr sz="16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5C84"/>
                </a:solidFill>
                <a:latin typeface="Arial MT"/>
                <a:cs typeface="Arial MT"/>
              </a:rPr>
              <a:t>Integration)</a:t>
            </a:r>
            <a:endParaRPr sz="16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575"/>
              </a:spcBef>
              <a:buChar char="•"/>
              <a:tabLst>
                <a:tab pos="140335" algn="l"/>
              </a:tabLst>
            </a:pP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Clients</a:t>
            </a:r>
            <a:r>
              <a:rPr sz="16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uses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stubs/proxies,</a:t>
            </a:r>
            <a:r>
              <a:rPr sz="16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use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Stub</a:t>
            </a:r>
            <a:r>
              <a:rPr sz="16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creates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SOAP</a:t>
            </a:r>
            <a:r>
              <a:rPr sz="16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5C84"/>
                </a:solidFill>
                <a:latin typeface="Arial MT"/>
                <a:cs typeface="Arial MT"/>
              </a:rPr>
              <a:t>request</a:t>
            </a:r>
            <a:endParaRPr sz="1600">
              <a:latin typeface="Arial MT"/>
              <a:cs typeface="Arial MT"/>
            </a:endParaRPr>
          </a:p>
          <a:p>
            <a:pPr marL="139700" indent="-127000">
              <a:lnSpc>
                <a:spcPct val="100000"/>
              </a:lnSpc>
              <a:spcBef>
                <a:spcPts val="580"/>
              </a:spcBef>
              <a:buChar char="•"/>
              <a:tabLst>
                <a:tab pos="139700" algn="l"/>
              </a:tabLst>
            </a:pP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SOAP</a:t>
            </a:r>
            <a:r>
              <a:rPr sz="16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request</a:t>
            </a:r>
            <a:r>
              <a:rPr sz="1600" spc="-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sent</a:t>
            </a:r>
            <a:r>
              <a:rPr sz="16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Web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Service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Skeleton,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invokes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Web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Service.</a:t>
            </a:r>
            <a:r>
              <a:rPr sz="16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Web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Service</a:t>
            </a:r>
            <a:r>
              <a:rPr sz="16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uses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skeleton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prepare</a:t>
            </a:r>
            <a:r>
              <a:rPr sz="1600" spc="-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5C84"/>
                </a:solidFill>
                <a:latin typeface="Arial MT"/>
                <a:cs typeface="Arial MT"/>
              </a:rPr>
              <a:t>SOAP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600" spc="-10" dirty="0">
                <a:solidFill>
                  <a:srgbClr val="005C84"/>
                </a:solidFill>
                <a:latin typeface="Arial MT"/>
                <a:cs typeface="Arial MT"/>
              </a:rPr>
              <a:t>response</a:t>
            </a:r>
            <a:endParaRPr sz="16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580"/>
              </a:spcBef>
              <a:buChar char="•"/>
              <a:tabLst>
                <a:tab pos="140335" algn="l"/>
              </a:tabLst>
            </a:pP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SOAP</a:t>
            </a:r>
            <a:r>
              <a:rPr sz="1600" spc="-7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response</a:t>
            </a:r>
            <a:r>
              <a:rPr sz="16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6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interpreted</a:t>
            </a:r>
            <a:r>
              <a:rPr sz="16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5C84"/>
                </a:solidFill>
                <a:latin typeface="Arial MT"/>
                <a:cs typeface="Arial MT"/>
              </a:rPr>
              <a:t>by</a:t>
            </a:r>
            <a:r>
              <a:rPr sz="16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5C84"/>
                </a:solidFill>
                <a:latin typeface="Arial MT"/>
                <a:cs typeface="Arial MT"/>
              </a:rPr>
              <a:t>Stub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 descr="SOAP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600" y="2971800"/>
            <a:ext cx="2610611" cy="343509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4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SOAP</a:t>
            </a:r>
            <a:r>
              <a:rPr spc="-110" dirty="0"/>
              <a:t> </a:t>
            </a:r>
            <a:r>
              <a:rPr dirty="0"/>
              <a:t>Web</a:t>
            </a:r>
            <a:r>
              <a:rPr spc="-50" dirty="0"/>
              <a:t> </a:t>
            </a:r>
            <a:r>
              <a:rPr dirty="0"/>
              <a:t>Service</a:t>
            </a:r>
            <a:r>
              <a:rPr spc="-50" dirty="0"/>
              <a:t> </a:t>
            </a:r>
            <a:r>
              <a:rPr dirty="0"/>
              <a:t>Sample</a:t>
            </a:r>
            <a:r>
              <a:rPr spc="-125" dirty="0"/>
              <a:t> </a:t>
            </a:r>
            <a:r>
              <a:rPr spc="-25" dirty="0"/>
              <a:t>App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94586"/>
            <a:ext cx="5292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005C84"/>
                </a:solidFill>
                <a:uFill>
                  <a:solidFill>
                    <a:srgbClr val="005C84"/>
                  </a:solidFill>
                </a:uFill>
                <a:latin typeface="Arial"/>
                <a:cs typeface="Arial"/>
                <a:hlinkClick r:id="rId2"/>
              </a:rPr>
              <a:t>http://www.dneonline.com/calculator.asmx?wsdl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Rest</a:t>
            </a:r>
            <a:r>
              <a:rPr spc="-105" dirty="0"/>
              <a:t> </a:t>
            </a:r>
            <a:r>
              <a:rPr spc="-25" dirty="0"/>
              <a:t>API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441" y="3109722"/>
            <a:ext cx="9135587" cy="1219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882" y="1466864"/>
            <a:ext cx="10686683" cy="435329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Anatomy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REST</a:t>
            </a:r>
            <a:r>
              <a:rPr spc="-130" dirty="0"/>
              <a:t> </a:t>
            </a:r>
            <a:r>
              <a:rPr spc="-25" dirty="0"/>
              <a:t>API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7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REST</a:t>
            </a:r>
            <a:r>
              <a:rPr spc="-70" dirty="0"/>
              <a:t> </a:t>
            </a:r>
            <a:r>
              <a:rPr dirty="0"/>
              <a:t>Web</a:t>
            </a:r>
            <a:r>
              <a:rPr spc="-85" dirty="0"/>
              <a:t> </a:t>
            </a:r>
            <a:r>
              <a:rPr dirty="0"/>
              <a:t>Service</a:t>
            </a:r>
            <a:r>
              <a:rPr spc="-60" dirty="0"/>
              <a:t> </a:t>
            </a:r>
            <a:r>
              <a:rPr spc="-10" dirty="0"/>
              <a:t>Resource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413128"/>
            <a:ext cx="10060305" cy="218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5C84"/>
                </a:solidFill>
                <a:latin typeface="Arial"/>
                <a:cs typeface="Arial"/>
              </a:rPr>
              <a:t>Resource</a:t>
            </a:r>
            <a:r>
              <a:rPr sz="1400" b="1" spc="-4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-</a:t>
            </a:r>
            <a:r>
              <a:rPr sz="14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4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4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4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key</a:t>
            </a:r>
            <a:r>
              <a:rPr sz="14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abstraction</a:t>
            </a:r>
            <a:r>
              <a:rPr sz="14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4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information</a:t>
            </a:r>
            <a:r>
              <a:rPr sz="14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in</a:t>
            </a:r>
            <a:r>
              <a:rPr sz="14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REST.</a:t>
            </a:r>
            <a:r>
              <a:rPr sz="14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5C84"/>
                </a:solidFill>
                <a:latin typeface="Arial MT"/>
                <a:cs typeface="Arial MT"/>
              </a:rPr>
              <a:t>REST</a:t>
            </a:r>
            <a:r>
              <a:rPr sz="1400" spc="-1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Architecture</a:t>
            </a:r>
            <a:r>
              <a:rPr sz="14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treats</a:t>
            </a:r>
            <a:r>
              <a:rPr sz="14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every</a:t>
            </a:r>
            <a:r>
              <a:rPr sz="14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content</a:t>
            </a:r>
            <a:r>
              <a:rPr sz="14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as</a:t>
            </a:r>
            <a:r>
              <a:rPr sz="14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resource,</a:t>
            </a:r>
            <a:r>
              <a:rPr sz="14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400" spc="-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can</a:t>
            </a:r>
            <a:r>
              <a:rPr sz="14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5C84"/>
                </a:solidFill>
                <a:latin typeface="Arial MT"/>
                <a:cs typeface="Arial MT"/>
              </a:rPr>
              <a:t>be: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4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buClr>
                <a:srgbClr val="3E9C35"/>
              </a:buClr>
              <a:buChar char="•"/>
              <a:tabLst>
                <a:tab pos="415925" algn="l"/>
              </a:tabLst>
            </a:pP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HTML</a:t>
            </a:r>
            <a:r>
              <a:rPr sz="1400" spc="-8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5C84"/>
                </a:solidFill>
                <a:latin typeface="Arial MT"/>
                <a:cs typeface="Arial MT"/>
              </a:rPr>
              <a:t>Pages</a:t>
            </a:r>
            <a:endParaRPr sz="14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spcBef>
                <a:spcPts val="505"/>
              </a:spcBef>
              <a:buClr>
                <a:srgbClr val="3E9C35"/>
              </a:buClr>
              <a:buChar char="•"/>
              <a:tabLst>
                <a:tab pos="415925" algn="l"/>
              </a:tabLst>
            </a:pPr>
            <a:r>
              <a:rPr sz="1400" spc="-10" dirty="0">
                <a:solidFill>
                  <a:srgbClr val="005C84"/>
                </a:solidFill>
                <a:latin typeface="Arial MT"/>
                <a:cs typeface="Arial MT"/>
              </a:rPr>
              <a:t>Images</a:t>
            </a:r>
            <a:endParaRPr sz="14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spcBef>
                <a:spcPts val="505"/>
              </a:spcBef>
              <a:buClr>
                <a:srgbClr val="3E9C35"/>
              </a:buClr>
              <a:buChar char="•"/>
              <a:tabLst>
                <a:tab pos="415925" algn="l"/>
              </a:tabLst>
            </a:pPr>
            <a:r>
              <a:rPr sz="1400" spc="-10" dirty="0">
                <a:solidFill>
                  <a:srgbClr val="005C84"/>
                </a:solidFill>
                <a:latin typeface="Arial MT"/>
                <a:cs typeface="Arial MT"/>
              </a:rPr>
              <a:t>Videos</a:t>
            </a:r>
            <a:endParaRPr sz="14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spcBef>
                <a:spcPts val="505"/>
              </a:spcBef>
              <a:buClr>
                <a:srgbClr val="3E9C35"/>
              </a:buClr>
              <a:buChar char="•"/>
              <a:tabLst>
                <a:tab pos="415925" algn="l"/>
              </a:tabLst>
            </a:pP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Dynamic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Business</a:t>
            </a:r>
            <a:r>
              <a:rPr sz="14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05C84"/>
                </a:solidFill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spcBef>
                <a:spcPts val="505"/>
              </a:spcBef>
              <a:buClr>
                <a:srgbClr val="3E9C35"/>
              </a:buClr>
              <a:buChar char="•"/>
              <a:tabLst>
                <a:tab pos="415925" algn="l"/>
              </a:tabLst>
            </a:pP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Every</a:t>
            </a:r>
            <a:r>
              <a:rPr sz="14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resource</a:t>
            </a:r>
            <a:r>
              <a:rPr sz="14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4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uniquely</a:t>
            </a:r>
            <a:r>
              <a:rPr sz="14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identified</a:t>
            </a:r>
            <a:r>
              <a:rPr sz="14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by</a:t>
            </a:r>
            <a:r>
              <a:rPr sz="14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4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5C84"/>
                </a:solidFill>
                <a:latin typeface="Arial MT"/>
                <a:cs typeface="Arial MT"/>
              </a:rPr>
              <a:t>URI</a:t>
            </a:r>
            <a:endParaRPr sz="14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spcBef>
                <a:spcPts val="505"/>
              </a:spcBef>
              <a:buClr>
                <a:srgbClr val="3E9C35"/>
              </a:buClr>
              <a:buChar char="•"/>
              <a:tabLst>
                <a:tab pos="415925" algn="l"/>
              </a:tabLst>
            </a:pP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Example:</a:t>
            </a:r>
            <a:r>
              <a:rPr sz="14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u="sng" spc="-10" dirty="0">
                <a:solidFill>
                  <a:srgbClr val="6C6D70"/>
                </a:solidFill>
                <a:uFill>
                  <a:solidFill>
                    <a:srgbClr val="6C6D70"/>
                  </a:solidFill>
                </a:uFill>
                <a:latin typeface="Arial MT"/>
                <a:cs typeface="Arial MT"/>
                <a:hlinkClick r:id="rId2"/>
              </a:rPr>
              <a:t>https://jsonplaceholder.typicode.com/users/1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Resource</a:t>
            </a:r>
            <a:r>
              <a:rPr spc="-85" dirty="0"/>
              <a:t> </a:t>
            </a:r>
            <a:r>
              <a:rPr spc="-10" dirty="0"/>
              <a:t>Naming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49730"/>
            <a:ext cx="7059295" cy="5803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3189" indent="-110489">
              <a:lnSpc>
                <a:spcPct val="100000"/>
              </a:lnSpc>
              <a:spcBef>
                <a:spcPts val="600"/>
              </a:spcBef>
              <a:buChar char="•"/>
              <a:tabLst>
                <a:tab pos="123189" algn="l"/>
              </a:tabLst>
            </a:pP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REST</a:t>
            </a:r>
            <a:r>
              <a:rPr sz="14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users</a:t>
            </a:r>
            <a:r>
              <a:rPr sz="14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URI to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identify</a:t>
            </a:r>
            <a:r>
              <a:rPr sz="14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5C84"/>
                </a:solidFill>
                <a:latin typeface="Arial MT"/>
                <a:cs typeface="Arial MT"/>
              </a:rPr>
              <a:t>resources</a:t>
            </a:r>
            <a:endParaRPr sz="1400">
              <a:latin typeface="Arial MT"/>
              <a:cs typeface="Arial MT"/>
            </a:endParaRPr>
          </a:p>
          <a:p>
            <a:pPr marL="112395" indent="-99695">
              <a:lnSpc>
                <a:spcPct val="100000"/>
              </a:lnSpc>
              <a:spcBef>
                <a:spcPts val="505"/>
              </a:spcBef>
              <a:buChar char="•"/>
              <a:tabLst>
                <a:tab pos="112395" algn="l"/>
              </a:tabLst>
            </a:pP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As</a:t>
            </a:r>
            <a:r>
              <a:rPr sz="14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you</a:t>
            </a:r>
            <a:r>
              <a:rPr sz="1400" spc="-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traverse</a:t>
            </a:r>
            <a:r>
              <a:rPr sz="14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path</a:t>
            </a:r>
            <a:r>
              <a:rPr sz="14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from</a:t>
            </a:r>
            <a:r>
              <a:rPr sz="14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more</a:t>
            </a:r>
            <a:r>
              <a:rPr sz="14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generic</a:t>
            </a:r>
            <a:r>
              <a:rPr sz="14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more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specific,</a:t>
            </a:r>
            <a:r>
              <a:rPr sz="14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you</a:t>
            </a:r>
            <a:r>
              <a:rPr sz="1400" spc="-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are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navigating</a:t>
            </a:r>
            <a:r>
              <a:rPr sz="14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4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05C84"/>
                </a:solidFill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14600" y="4254500"/>
          <a:ext cx="5641975" cy="1935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marL="68580">
                        <a:lnSpc>
                          <a:spcPts val="1630"/>
                        </a:lnSpc>
                      </a:pP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Action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005C8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1630"/>
                        </a:lnSpc>
                      </a:pPr>
                      <a:r>
                        <a:rPr sz="140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URI</a:t>
                      </a:r>
                      <a:r>
                        <a:rPr sz="1400" spc="-3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(Domain:</a:t>
                      </a:r>
                      <a:r>
                        <a:rPr sz="1400" spc="-45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  <a:hlinkClick r:id="rId2"/>
                        </a:rPr>
                        <a:t>https://reqres.in/</a:t>
                      </a: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005C8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List</a:t>
                      </a:r>
                      <a:r>
                        <a:rPr sz="1400" spc="-15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Users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  <a:hlinkClick r:id="rId3"/>
                        </a:rPr>
                        <a:t>https://reqres.in/api/users?page=2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74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Single</a:t>
                      </a:r>
                      <a:r>
                        <a:rPr sz="1400" spc="-55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  <a:hlinkClick r:id="rId4"/>
                        </a:rPr>
                        <a:t>https://reqres.in/api/users/2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74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1400" spc="-4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Users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  <a:hlinkClick r:id="rId5"/>
                        </a:rPr>
                        <a:t>https://reqres.in/api/users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74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1400" spc="-75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7470" marB="0">
                    <a:lnB w="28575">
                      <a:solidFill>
                        <a:srgbClr val="005C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10" dirty="0">
                          <a:solidFill>
                            <a:srgbClr val="005C84"/>
                          </a:solidFill>
                          <a:latin typeface="Arial MT"/>
                          <a:cs typeface="Arial MT"/>
                          <a:hlinkClick r:id="rId4"/>
                        </a:rPr>
                        <a:t>https://reqres.in/api/users/2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7470" marB="0">
                    <a:lnB w="28575">
                      <a:solidFill>
                        <a:srgbClr val="005C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9875" y="2673937"/>
            <a:ext cx="5630879" cy="93114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SOAP</a:t>
            </a:r>
            <a:r>
              <a:rPr spc="-80" dirty="0"/>
              <a:t> </a:t>
            </a:r>
            <a:r>
              <a:rPr dirty="0"/>
              <a:t>vs</a:t>
            </a:r>
            <a:r>
              <a:rPr spc="-15" dirty="0"/>
              <a:t> </a:t>
            </a:r>
            <a:r>
              <a:rPr spc="-20" dirty="0"/>
              <a:t>REST</a:t>
            </a:r>
          </a:p>
        </p:txBody>
      </p:sp>
      <p:pic>
        <p:nvPicPr>
          <p:cNvPr id="4" name="object 4" descr="Article 1: SOAP vs RES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853" y="2188600"/>
            <a:ext cx="7428769" cy="29358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6283" y="515873"/>
            <a:ext cx="3020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is</a:t>
            </a:r>
            <a:r>
              <a:rPr spc="-125" dirty="0"/>
              <a:t> </a:t>
            </a:r>
            <a:r>
              <a:rPr dirty="0"/>
              <a:t>API</a:t>
            </a:r>
            <a:r>
              <a:rPr spc="-10" dirty="0"/>
              <a:t> Testing?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46073"/>
            <a:ext cx="11294745" cy="1809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855" indent="117475">
              <a:lnSpc>
                <a:spcPct val="130000"/>
              </a:lnSpc>
              <a:spcBef>
                <a:spcPts val="10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type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software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testing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where</a:t>
            </a:r>
            <a:r>
              <a:rPr sz="1500" spc="-9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APIs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are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tested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determine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if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they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meet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expectations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functionality,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reliability,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performance,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security.</a:t>
            </a:r>
            <a:endParaRPr sz="1500">
              <a:latin typeface="Arial MT"/>
              <a:cs typeface="Arial MT"/>
            </a:endParaRPr>
          </a:p>
          <a:p>
            <a:pPr marL="130175" indent="-117475">
              <a:lnSpc>
                <a:spcPct val="100000"/>
              </a:lnSpc>
              <a:spcBef>
                <a:spcPts val="5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performed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at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most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critical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layer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software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architecture,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Business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Layer.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business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layer,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business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logic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processing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carried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out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all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transactions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between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UI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database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happen</a:t>
            </a:r>
            <a:endParaRPr sz="1500">
              <a:latin typeface="Arial MT"/>
              <a:cs typeface="Arial MT"/>
            </a:endParaRPr>
          </a:p>
          <a:p>
            <a:pPr marL="12700" marR="404495" indent="107314">
              <a:lnSpc>
                <a:spcPct val="130000"/>
              </a:lnSpc>
              <a:buChar char="•"/>
              <a:tabLst>
                <a:tab pos="120014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are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different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from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GUI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Tests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won't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concentrate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on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look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feel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application.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mainly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concentrates</a:t>
            </a:r>
            <a:r>
              <a:rPr sz="1500" spc="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on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the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business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logic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layer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software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architecture.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2910" y="3677573"/>
            <a:ext cx="4679185" cy="20608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6283" y="515873"/>
            <a:ext cx="2580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20" dirty="0"/>
              <a:t> </a:t>
            </a:r>
            <a:r>
              <a:rPr dirty="0"/>
              <a:t>API</a:t>
            </a:r>
            <a:r>
              <a:rPr spc="-30" dirty="0"/>
              <a:t> </a:t>
            </a:r>
            <a:r>
              <a:rPr spc="-10" dirty="0"/>
              <a:t>Testing?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46073"/>
            <a:ext cx="5368290" cy="151193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30175" indent="-117475">
              <a:lnSpc>
                <a:spcPct val="100000"/>
              </a:lnSpc>
              <a:spcBef>
                <a:spcPts val="6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Make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sure</a:t>
            </a:r>
            <a:r>
              <a:rPr sz="1500" spc="-10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does</a:t>
            </a:r>
            <a:r>
              <a:rPr sz="1500" b="1" spc="-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what</a:t>
            </a:r>
            <a:r>
              <a:rPr sz="1500" b="1" spc="-5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its</a:t>
            </a:r>
            <a:r>
              <a:rPr sz="1500" b="1" spc="-2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supposed</a:t>
            </a:r>
            <a:r>
              <a:rPr sz="1500" b="1" spc="-2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to</a:t>
            </a:r>
            <a:r>
              <a:rPr sz="1500" b="1" spc="-1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5C84"/>
                </a:solidFill>
                <a:latin typeface="Arial"/>
                <a:cs typeface="Arial"/>
              </a:rPr>
              <a:t>do</a:t>
            </a:r>
            <a:endParaRPr sz="1500">
              <a:latin typeface="Arial"/>
              <a:cs typeface="Arial"/>
            </a:endParaRPr>
          </a:p>
          <a:p>
            <a:pPr marL="130175" indent="-117475">
              <a:lnSpc>
                <a:spcPct val="100000"/>
              </a:lnSpc>
              <a:spcBef>
                <a:spcPts val="5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Make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sure</a:t>
            </a:r>
            <a:r>
              <a:rPr sz="1500" spc="-10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can</a:t>
            </a:r>
            <a:r>
              <a:rPr sz="1500" b="1" spc="-2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handle</a:t>
            </a:r>
            <a:r>
              <a:rPr sz="1500" b="1" spc="-1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the</a:t>
            </a:r>
            <a:r>
              <a:rPr sz="1500" b="1" spc="-1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assigned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5C84"/>
                </a:solidFill>
                <a:latin typeface="Arial"/>
                <a:cs typeface="Arial"/>
              </a:rPr>
              <a:t>load</a:t>
            </a:r>
            <a:endParaRPr sz="1500">
              <a:latin typeface="Arial"/>
              <a:cs typeface="Arial"/>
            </a:endParaRPr>
          </a:p>
          <a:p>
            <a:pPr marL="130175" indent="-117475">
              <a:lnSpc>
                <a:spcPct val="100000"/>
              </a:lnSpc>
              <a:spcBef>
                <a:spcPts val="5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Make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sure</a:t>
            </a:r>
            <a:r>
              <a:rPr sz="1500" spc="-10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works</a:t>
            </a:r>
            <a:r>
              <a:rPr sz="1500" b="1" spc="-5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across</a:t>
            </a:r>
            <a:r>
              <a:rPr sz="1500" b="1" spc="-1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devices,</a:t>
            </a:r>
            <a:r>
              <a:rPr sz="1500" b="1" spc="-1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browsers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&amp;</a:t>
            </a:r>
            <a:r>
              <a:rPr sz="1500" b="1" spc="-1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5C84"/>
                </a:solidFill>
                <a:latin typeface="Arial"/>
                <a:cs typeface="Arial"/>
              </a:rPr>
              <a:t>systems</a:t>
            </a:r>
            <a:endParaRPr sz="1500">
              <a:latin typeface="Arial"/>
              <a:cs typeface="Arial"/>
            </a:endParaRPr>
          </a:p>
          <a:p>
            <a:pPr marL="130175" indent="-117475">
              <a:lnSpc>
                <a:spcPct val="100000"/>
              </a:lnSpc>
              <a:spcBef>
                <a:spcPts val="5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Reduce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business</a:t>
            </a:r>
            <a:r>
              <a:rPr sz="1500" b="1" spc="-6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development</a:t>
            </a:r>
            <a:r>
              <a:rPr sz="1500" b="1" spc="-3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&amp;</a:t>
            </a:r>
            <a:r>
              <a:rPr sz="1500" b="1" spc="-5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test</a:t>
            </a:r>
            <a:r>
              <a:rPr sz="1500" b="1" spc="-6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5C84"/>
                </a:solidFill>
                <a:latin typeface="Arial"/>
                <a:cs typeface="Arial"/>
              </a:rPr>
              <a:t>costs</a:t>
            </a:r>
            <a:endParaRPr sz="1500">
              <a:latin typeface="Arial"/>
              <a:cs typeface="Arial"/>
            </a:endParaRPr>
          </a:p>
          <a:p>
            <a:pPr marL="130175" indent="-117475">
              <a:lnSpc>
                <a:spcPct val="100000"/>
              </a:lnSpc>
              <a:spcBef>
                <a:spcPts val="5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Discover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all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possible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ways</a:t>
            </a:r>
            <a:r>
              <a:rPr sz="1500" spc="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user</a:t>
            </a:r>
            <a:r>
              <a:rPr sz="1500" b="1" spc="-4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can</a:t>
            </a:r>
            <a:r>
              <a:rPr sz="1500" b="1" spc="-5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mess</a:t>
            </a:r>
            <a:r>
              <a:rPr sz="1500" b="1" spc="-4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up</a:t>
            </a:r>
            <a:r>
              <a:rPr sz="1500" b="1" spc="-4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5C84"/>
                </a:solidFill>
                <a:latin typeface="Arial"/>
                <a:cs typeface="Arial"/>
              </a:rPr>
              <a:t>things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3043427"/>
            <a:ext cx="6734556" cy="381457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12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spc="-35" dirty="0"/>
              <a:t> </a:t>
            </a:r>
            <a:r>
              <a:rPr dirty="0"/>
              <a:t>as</a:t>
            </a:r>
            <a:r>
              <a:rPr spc="-4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Contract</a:t>
            </a:r>
            <a:r>
              <a:rPr spc="-30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dirty="0"/>
              <a:t>First,</a:t>
            </a:r>
            <a:r>
              <a:rPr spc="-55" dirty="0"/>
              <a:t> </a:t>
            </a:r>
            <a:r>
              <a:rPr dirty="0"/>
              <a:t>check</a:t>
            </a:r>
            <a:r>
              <a:rPr spc="-3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46073"/>
            <a:ext cx="10259695" cy="210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2275" indent="107314">
              <a:lnSpc>
                <a:spcPct val="130000"/>
              </a:lnSpc>
              <a:spcBef>
                <a:spcPts val="100"/>
              </a:spcBef>
              <a:buChar char="•"/>
              <a:tabLst>
                <a:tab pos="120014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</a:t>
            </a:r>
            <a:r>
              <a:rPr sz="1500" spc="-10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essentially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contract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between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client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server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Hence,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before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any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implementation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can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begin,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make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sure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contract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correct</a:t>
            </a:r>
            <a:endParaRPr sz="1500">
              <a:latin typeface="Arial MT"/>
              <a:cs typeface="Arial MT"/>
            </a:endParaRPr>
          </a:p>
          <a:p>
            <a:pPr marL="127635" indent="-114935">
              <a:lnSpc>
                <a:spcPct val="100000"/>
              </a:lnSpc>
              <a:spcBef>
                <a:spcPts val="540"/>
              </a:spcBef>
              <a:buChar char="•"/>
              <a:tabLst>
                <a:tab pos="12763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can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done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first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by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inspecting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spec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(or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service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contract</a:t>
            </a:r>
            <a:r>
              <a:rPr sz="1500" spc="-7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itself,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example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Swagger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interface</a:t>
            </a:r>
            <a:r>
              <a:rPr sz="1500" spc="-7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or</a:t>
            </a:r>
            <a:r>
              <a:rPr sz="1500" spc="7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OpenAPI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reference)</a:t>
            </a:r>
            <a:endParaRPr sz="1500">
              <a:latin typeface="Arial MT"/>
              <a:cs typeface="Arial MT"/>
            </a:endParaRPr>
          </a:p>
          <a:p>
            <a:pPr marL="130175" indent="-117475">
              <a:lnSpc>
                <a:spcPct val="100000"/>
              </a:lnSpc>
              <a:spcBef>
                <a:spcPts val="5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Make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sure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endpoints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are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correctly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named,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resources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their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types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correctly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reflect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object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model</a:t>
            </a:r>
            <a:endParaRPr sz="1500">
              <a:latin typeface="Arial MT"/>
              <a:cs typeface="Arial MT"/>
            </a:endParaRPr>
          </a:p>
          <a:p>
            <a:pPr marL="130175" indent="-117475">
              <a:lnSpc>
                <a:spcPct val="100000"/>
              </a:lnSpc>
              <a:spcBef>
                <a:spcPts val="5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Check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there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no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missing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functionality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or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duplicate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functionality</a:t>
            </a:r>
            <a:endParaRPr sz="1500">
              <a:latin typeface="Arial MT"/>
              <a:cs typeface="Arial MT"/>
            </a:endParaRPr>
          </a:p>
          <a:p>
            <a:pPr marL="130175" indent="-117475">
              <a:lnSpc>
                <a:spcPct val="100000"/>
              </a:lnSpc>
              <a:spcBef>
                <a:spcPts val="54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Check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relationships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between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resources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are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reflected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correctly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13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6283" y="515873"/>
            <a:ext cx="3752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spc="-40" dirty="0"/>
              <a:t> </a:t>
            </a:r>
            <a:r>
              <a:rPr spc="-10" dirty="0"/>
              <a:t>Testing</a:t>
            </a:r>
            <a:r>
              <a:rPr spc="-65" dirty="0"/>
              <a:t> </a:t>
            </a: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Test?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535048"/>
            <a:ext cx="6765925" cy="345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 indent="-20955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2225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HTTP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Status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code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005C84"/>
              </a:buClr>
              <a:buFont typeface="Arial MT"/>
              <a:buAutoNum type="arabicPeriod"/>
            </a:pPr>
            <a:endParaRPr sz="1500">
              <a:latin typeface="Arial MT"/>
              <a:cs typeface="Arial MT"/>
            </a:endParaRPr>
          </a:p>
          <a:p>
            <a:pPr marL="212090" indent="-199390">
              <a:lnSpc>
                <a:spcPct val="100000"/>
              </a:lnSpc>
              <a:buAutoNum type="arabicPeriod"/>
              <a:tabLst>
                <a:tab pos="21209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Accuracy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data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005C84"/>
              </a:buClr>
              <a:buFont typeface="Arial MT"/>
              <a:buAutoNum type="arabicPeriod"/>
            </a:pPr>
            <a:endParaRPr sz="1500">
              <a:latin typeface="Arial MT"/>
              <a:cs typeface="Arial MT"/>
            </a:endParaRPr>
          </a:p>
          <a:p>
            <a:pPr marL="222250" indent="-209550">
              <a:lnSpc>
                <a:spcPct val="100000"/>
              </a:lnSpc>
              <a:buAutoNum type="arabicPeriod"/>
              <a:tabLst>
                <a:tab pos="22225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Schema</a:t>
            </a:r>
            <a:r>
              <a:rPr sz="1500" spc="-7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validation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(response</a:t>
            </a:r>
            <a:r>
              <a:rPr sz="1500" spc="-8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structure</a:t>
            </a:r>
            <a:r>
              <a:rPr sz="1500" spc="-9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validation)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005C84"/>
              </a:buClr>
              <a:buFont typeface="Arial MT"/>
              <a:buAutoNum type="arabicPeriod"/>
            </a:pPr>
            <a:endParaRPr sz="1500">
              <a:latin typeface="Arial MT"/>
              <a:cs typeface="Arial MT"/>
            </a:endParaRPr>
          </a:p>
          <a:p>
            <a:pPr marL="222250" indent="-209550">
              <a:lnSpc>
                <a:spcPct val="100000"/>
              </a:lnSpc>
              <a:buAutoNum type="arabicPeriod"/>
              <a:tabLst>
                <a:tab pos="22225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Response</a:t>
            </a:r>
            <a:r>
              <a:rPr sz="1500" spc="-9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data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validation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(Data</a:t>
            </a:r>
            <a:r>
              <a:rPr sz="1500" spc="-9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Accuracy,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data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types,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data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order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etc)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005C84"/>
              </a:buClr>
              <a:buFont typeface="Arial MT"/>
              <a:buAutoNum type="arabicPeriod"/>
            </a:pPr>
            <a:endParaRPr sz="1500">
              <a:latin typeface="Arial MT"/>
              <a:cs typeface="Arial MT"/>
            </a:endParaRPr>
          </a:p>
          <a:p>
            <a:pPr marL="212090" indent="-199390">
              <a:lnSpc>
                <a:spcPct val="100000"/>
              </a:lnSpc>
              <a:buAutoNum type="arabicPeriod"/>
              <a:tabLst>
                <a:tab pos="212090" algn="l"/>
              </a:tabLst>
            </a:pP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Authorization</a:t>
            </a:r>
            <a:r>
              <a:rPr sz="1500" spc="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checks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005C84"/>
              </a:buClr>
              <a:buFont typeface="Arial MT"/>
              <a:buAutoNum type="arabicPeriod"/>
            </a:pPr>
            <a:endParaRPr sz="1500">
              <a:latin typeface="Arial MT"/>
              <a:cs typeface="Arial MT"/>
            </a:endParaRPr>
          </a:p>
          <a:p>
            <a:pPr marL="222885" indent="-210185">
              <a:lnSpc>
                <a:spcPct val="100000"/>
              </a:lnSpc>
              <a:buAutoNum type="arabicPeriod"/>
              <a:tabLst>
                <a:tab pos="222885" algn="l"/>
              </a:tabLst>
            </a:pP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Implementation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response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timeout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005C84"/>
              </a:buClr>
              <a:buFont typeface="Arial MT"/>
              <a:buAutoNum type="arabicPeriod"/>
            </a:pPr>
            <a:endParaRPr sz="1500">
              <a:latin typeface="Arial MT"/>
              <a:cs typeface="Arial MT"/>
            </a:endParaRPr>
          </a:p>
          <a:p>
            <a:pPr marL="222250" indent="-209550">
              <a:lnSpc>
                <a:spcPct val="100000"/>
              </a:lnSpc>
              <a:buAutoNum type="arabicPeriod"/>
              <a:tabLst>
                <a:tab pos="22225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Error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codes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/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Warning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codes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validation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005C84"/>
              </a:buClr>
              <a:buFont typeface="Arial MT"/>
              <a:buAutoNum type="arabicPeriod"/>
            </a:pPr>
            <a:endParaRPr sz="1500">
              <a:latin typeface="Arial MT"/>
              <a:cs typeface="Arial MT"/>
            </a:endParaRPr>
          </a:p>
          <a:p>
            <a:pPr marL="222250" indent="-209550">
              <a:lnSpc>
                <a:spcPct val="100000"/>
              </a:lnSpc>
              <a:buAutoNum type="arabicPeriod"/>
              <a:tabLst>
                <a:tab pos="22225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Other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Non-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functional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testing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such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as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performance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testing,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Security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testing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etc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Stages</a:t>
            </a:r>
            <a:r>
              <a:rPr spc="-75" dirty="0"/>
              <a:t> </a:t>
            </a:r>
            <a:r>
              <a:rPr spc="-10" dirty="0"/>
              <a:t>Perform</a:t>
            </a:r>
            <a:r>
              <a:rPr spc="-135" dirty="0"/>
              <a:t> </a:t>
            </a:r>
            <a:r>
              <a:rPr dirty="0"/>
              <a:t>API</a:t>
            </a:r>
            <a:r>
              <a:rPr spc="-65" dirty="0"/>
              <a:t> </a:t>
            </a:r>
            <a:r>
              <a:rPr spc="-10" dirty="0"/>
              <a:t>Testing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46073"/>
            <a:ext cx="10370820" cy="151193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12090" indent="-19939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21209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Specification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Review: Review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Specification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use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case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documentation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from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perspective</a:t>
            </a:r>
            <a:endParaRPr sz="1500">
              <a:latin typeface="Arial MT"/>
              <a:cs typeface="Arial MT"/>
            </a:endParaRPr>
          </a:p>
          <a:p>
            <a:pPr marL="217804" indent="-205104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17804" algn="l"/>
              </a:tabLst>
            </a:pP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Specification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Development: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This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document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details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conditions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expected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results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each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case</a:t>
            </a:r>
            <a:endParaRPr sz="1500">
              <a:latin typeface="Arial MT"/>
              <a:cs typeface="Arial MT"/>
            </a:endParaRPr>
          </a:p>
          <a:p>
            <a:pPr marL="217804" indent="-205104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17804" algn="l"/>
              </a:tabLst>
            </a:pP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Framework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Development: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Use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standard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Open-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Source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tools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like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SoapUI,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JMeter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develop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set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static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resources</a:t>
            </a:r>
            <a:endParaRPr sz="1500">
              <a:latin typeface="Arial MT"/>
              <a:cs typeface="Arial MT"/>
            </a:endParaRPr>
          </a:p>
          <a:p>
            <a:pPr marL="218440" indent="-20574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18440" algn="l"/>
              </a:tabLst>
            </a:pP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Case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Development: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Coding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scenarios,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creating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sanity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check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suites,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surveillance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suites</a:t>
            </a:r>
            <a:endParaRPr sz="1500">
              <a:latin typeface="Arial MT"/>
              <a:cs typeface="Arial MT"/>
            </a:endParaRPr>
          </a:p>
          <a:p>
            <a:pPr marL="217804" indent="-205104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17804" algn="l"/>
              </a:tabLst>
            </a:pP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Execution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Reporting: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Execution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developed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suites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&amp;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reporting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3118132"/>
            <a:ext cx="3606319" cy="349450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dirty="0"/>
              <a:t>API</a:t>
            </a:r>
            <a:r>
              <a:rPr spc="-7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2286013"/>
            <a:ext cx="6580632" cy="3340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16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spc="-65" dirty="0"/>
              <a:t> </a:t>
            </a:r>
            <a:r>
              <a:rPr dirty="0"/>
              <a:t>Functional</a:t>
            </a:r>
            <a:r>
              <a:rPr spc="-100" dirty="0"/>
              <a:t> </a:t>
            </a:r>
            <a:r>
              <a:rPr spc="-20" dirty="0"/>
              <a:t>Test</a:t>
            </a:r>
            <a:r>
              <a:rPr spc="-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35404"/>
            <a:ext cx="11290300" cy="345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6559" marR="5080" indent="-403860">
              <a:lnSpc>
                <a:spcPct val="150000"/>
              </a:lnSpc>
              <a:spcBef>
                <a:spcPts val="100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Status</a:t>
            </a:r>
            <a:r>
              <a:rPr sz="1500" b="1" spc="-5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Code</a:t>
            </a:r>
            <a:r>
              <a:rPr sz="1500" b="1" spc="-2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5C84"/>
                </a:solidFill>
                <a:latin typeface="Arial"/>
                <a:cs typeface="Arial"/>
              </a:rPr>
              <a:t>Validation</a:t>
            </a:r>
            <a:r>
              <a:rPr sz="1500" b="1" spc="-6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for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5C84"/>
                </a:solidFill>
                <a:latin typeface="Arial"/>
                <a:cs typeface="Arial"/>
              </a:rPr>
              <a:t>Valid</a:t>
            </a:r>
            <a:r>
              <a:rPr sz="1500" b="1" spc="-5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Requests:</a:t>
            </a:r>
            <a:r>
              <a:rPr sz="1500" b="1" spc="-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Verify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consistently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returns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expected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response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status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code,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such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as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"200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OK,"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valid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properly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formatted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requests.</a:t>
            </a:r>
            <a:endParaRPr sz="1500">
              <a:latin typeface="Arial MT"/>
              <a:cs typeface="Arial MT"/>
            </a:endParaRPr>
          </a:p>
          <a:p>
            <a:pPr marL="416559" marR="874394" indent="-403860">
              <a:lnSpc>
                <a:spcPts val="2700"/>
              </a:lnSpc>
              <a:spcBef>
                <a:spcPts val="240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Authentication</a:t>
            </a:r>
            <a:r>
              <a:rPr sz="1500" b="1" spc="-6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Handling</a:t>
            </a:r>
            <a:r>
              <a:rPr sz="1500" b="1" spc="-5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with</a:t>
            </a:r>
            <a:r>
              <a:rPr sz="1500" b="1" spc="-7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Invalid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Credentials:</a:t>
            </a:r>
            <a:r>
              <a:rPr sz="1500" b="1" spc="-6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API's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response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when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provided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with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invalid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authentication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credentials,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ensuring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consistently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returns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"401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Unauthorized"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status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code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expected.</a:t>
            </a:r>
            <a:endParaRPr sz="1500">
              <a:latin typeface="Arial MT"/>
              <a:cs typeface="Arial MT"/>
            </a:endParaRPr>
          </a:p>
          <a:p>
            <a:pPr marL="416559" marR="673100" indent="-403860">
              <a:lnSpc>
                <a:spcPts val="2700"/>
              </a:lnSpc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Graceful</a:t>
            </a:r>
            <a:r>
              <a:rPr sz="1500" b="1" spc="-6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Handling</a:t>
            </a:r>
            <a:r>
              <a:rPr sz="1500" b="1" spc="-5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of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Missing</a:t>
            </a:r>
            <a:r>
              <a:rPr sz="1500" b="1" spc="-6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or</a:t>
            </a:r>
            <a:r>
              <a:rPr sz="1500" b="1" spc="-3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Invalid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Parameters:</a:t>
            </a:r>
            <a:r>
              <a:rPr sz="1500" b="1" spc="-2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Verify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handles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missing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invalid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request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parameters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gracefully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returns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clear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user-friendly</a:t>
            </a:r>
            <a:r>
              <a:rPr sz="1500" spc="-7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error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messages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aid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troubleshooting.</a:t>
            </a:r>
            <a:endParaRPr sz="15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spcBef>
                <a:spcPts val="660"/>
              </a:spcBef>
              <a:buClr>
                <a:srgbClr val="3E9C35"/>
              </a:buClr>
              <a:buFont typeface="Arial MT"/>
              <a:buChar char="•"/>
              <a:tabLst>
                <a:tab pos="415925" algn="l"/>
              </a:tabLst>
            </a:pP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Input</a:t>
            </a:r>
            <a:r>
              <a:rPr sz="1500" b="1" spc="-5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Data</a:t>
            </a:r>
            <a:r>
              <a:rPr sz="1500" b="1" spc="-3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5C84"/>
                </a:solidFill>
                <a:latin typeface="Arial"/>
                <a:cs typeface="Arial"/>
              </a:rPr>
              <a:t>Validation</a:t>
            </a:r>
            <a:r>
              <a:rPr sz="1500" b="1" spc="-6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with</a:t>
            </a:r>
            <a:r>
              <a:rPr sz="1500" b="1" spc="-6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Malformed</a:t>
            </a:r>
            <a:r>
              <a:rPr sz="1500" b="1" spc="-4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Data: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API's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input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validation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by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submitting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various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forms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malformed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data,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such</a:t>
            </a:r>
            <a:endParaRPr sz="1500">
              <a:latin typeface="Arial MT"/>
              <a:cs typeface="Arial MT"/>
            </a:endParaRPr>
          </a:p>
          <a:p>
            <a:pPr marL="416559">
              <a:lnSpc>
                <a:spcPct val="100000"/>
              </a:lnSpc>
              <a:spcBef>
                <a:spcPts val="900"/>
              </a:spcBef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invalid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email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formats,</a:t>
            </a:r>
            <a:r>
              <a:rPr sz="1500" spc="-7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confirm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properly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rejects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responds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these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inputs.</a:t>
            </a:r>
            <a:endParaRPr sz="1500">
              <a:latin typeface="Arial MT"/>
              <a:cs typeface="Arial MT"/>
            </a:endParaRPr>
          </a:p>
          <a:p>
            <a:pPr marL="416559" marR="567690" indent="-403860">
              <a:lnSpc>
                <a:spcPct val="150000"/>
              </a:lnSpc>
              <a:spcBef>
                <a:spcPts val="5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Timeout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Handling</a:t>
            </a:r>
            <a:r>
              <a:rPr sz="1500" b="1" spc="-5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under</a:t>
            </a:r>
            <a:r>
              <a:rPr sz="1500" b="1" spc="-2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Load:</a:t>
            </a:r>
            <a:r>
              <a:rPr sz="1500" b="1" spc="-4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Confirm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correctly</a:t>
            </a:r>
            <a:r>
              <a:rPr sz="1500" spc="-7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handles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timeouts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by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simulating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requests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take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longer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to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process,</a:t>
            </a:r>
            <a:r>
              <a:rPr sz="1500" spc="-7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ensuring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remains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responsive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does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not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hang.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17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spc="-65" dirty="0"/>
              <a:t> </a:t>
            </a:r>
            <a:r>
              <a:rPr dirty="0"/>
              <a:t>Functional</a:t>
            </a:r>
            <a:r>
              <a:rPr spc="-100" dirty="0"/>
              <a:t> </a:t>
            </a:r>
            <a:r>
              <a:rPr spc="-20" dirty="0"/>
              <a:t>Test</a:t>
            </a:r>
            <a:r>
              <a:rPr spc="-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6559" marR="5080" indent="-403860">
              <a:lnSpc>
                <a:spcPct val="150000"/>
              </a:lnSpc>
              <a:spcBef>
                <a:spcPts val="100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sz="1500" b="1" dirty="0">
                <a:latin typeface="Arial"/>
                <a:cs typeface="Arial"/>
              </a:rPr>
              <a:t>Pagination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Functionality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Verification: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spc="-25" dirty="0"/>
              <a:t>Test</a:t>
            </a:r>
            <a:r>
              <a:rPr sz="1500" spc="-30" dirty="0"/>
              <a:t> </a:t>
            </a:r>
            <a:r>
              <a:rPr sz="1500" spc="-10" dirty="0"/>
              <a:t>the</a:t>
            </a:r>
            <a:r>
              <a:rPr sz="1500" spc="-100" dirty="0"/>
              <a:t> </a:t>
            </a:r>
            <a:r>
              <a:rPr sz="1500" dirty="0"/>
              <a:t>API's</a:t>
            </a:r>
            <a:r>
              <a:rPr sz="1500" spc="-20" dirty="0"/>
              <a:t> </a:t>
            </a:r>
            <a:r>
              <a:rPr sz="1500" dirty="0"/>
              <a:t>pagination</a:t>
            </a:r>
            <a:r>
              <a:rPr sz="1500" spc="-45" dirty="0"/>
              <a:t> </a:t>
            </a:r>
            <a:r>
              <a:rPr sz="1500" dirty="0"/>
              <a:t>functionality</a:t>
            </a:r>
            <a:r>
              <a:rPr sz="1500" spc="-50" dirty="0"/>
              <a:t> </a:t>
            </a:r>
            <a:r>
              <a:rPr sz="1500" dirty="0"/>
              <a:t>by</a:t>
            </a:r>
            <a:r>
              <a:rPr sz="1500" spc="-25" dirty="0"/>
              <a:t> </a:t>
            </a:r>
            <a:r>
              <a:rPr sz="1500" dirty="0"/>
              <a:t>requesting</a:t>
            </a:r>
            <a:r>
              <a:rPr sz="1500" spc="-45" dirty="0"/>
              <a:t> </a:t>
            </a:r>
            <a:r>
              <a:rPr sz="1500" dirty="0"/>
              <a:t>specific</a:t>
            </a:r>
            <a:r>
              <a:rPr sz="1500" spc="-40" dirty="0"/>
              <a:t> </a:t>
            </a:r>
            <a:r>
              <a:rPr sz="1500" dirty="0"/>
              <a:t>pages</a:t>
            </a:r>
            <a:r>
              <a:rPr sz="1500" spc="-30" dirty="0"/>
              <a:t> </a:t>
            </a:r>
            <a:r>
              <a:rPr sz="1500" dirty="0"/>
              <a:t>of</a:t>
            </a:r>
            <a:r>
              <a:rPr sz="1500" spc="-40" dirty="0"/>
              <a:t> </a:t>
            </a:r>
            <a:r>
              <a:rPr sz="1500" dirty="0"/>
              <a:t>results</a:t>
            </a:r>
            <a:r>
              <a:rPr sz="1500" spc="-30" dirty="0"/>
              <a:t> </a:t>
            </a:r>
            <a:r>
              <a:rPr sz="1500" dirty="0"/>
              <a:t>and</a:t>
            </a:r>
            <a:r>
              <a:rPr sz="1500" spc="-30" dirty="0"/>
              <a:t> </a:t>
            </a:r>
            <a:r>
              <a:rPr sz="1500" spc="-10" dirty="0"/>
              <a:t>verifying </a:t>
            </a:r>
            <a:r>
              <a:rPr sz="1500" dirty="0"/>
              <a:t>that</a:t>
            </a:r>
            <a:r>
              <a:rPr sz="1500" spc="-50" dirty="0"/>
              <a:t> </a:t>
            </a:r>
            <a:r>
              <a:rPr sz="1500" dirty="0"/>
              <a:t>the</a:t>
            </a:r>
            <a:r>
              <a:rPr sz="1500" spc="-50" dirty="0"/>
              <a:t> </a:t>
            </a:r>
            <a:r>
              <a:rPr sz="1500" dirty="0"/>
              <a:t>responses</a:t>
            </a:r>
            <a:r>
              <a:rPr sz="1500" spc="-60" dirty="0"/>
              <a:t> </a:t>
            </a:r>
            <a:r>
              <a:rPr sz="1500" dirty="0"/>
              <a:t>contain</a:t>
            </a:r>
            <a:r>
              <a:rPr sz="1500" spc="-60" dirty="0"/>
              <a:t> </a:t>
            </a:r>
            <a:r>
              <a:rPr sz="1500" dirty="0"/>
              <a:t>the</a:t>
            </a:r>
            <a:r>
              <a:rPr sz="1500" spc="-50" dirty="0"/>
              <a:t> </a:t>
            </a:r>
            <a:r>
              <a:rPr sz="1500" dirty="0"/>
              <a:t>expected</a:t>
            </a:r>
            <a:r>
              <a:rPr sz="1500" spc="-35" dirty="0"/>
              <a:t> </a:t>
            </a:r>
            <a:r>
              <a:rPr sz="1500" dirty="0"/>
              <a:t>data</a:t>
            </a:r>
            <a:r>
              <a:rPr sz="1500" spc="-45" dirty="0"/>
              <a:t> </a:t>
            </a:r>
            <a:r>
              <a:rPr sz="1500" dirty="0"/>
              <a:t>and</a:t>
            </a:r>
            <a:r>
              <a:rPr sz="1500" spc="-35" dirty="0"/>
              <a:t> </a:t>
            </a:r>
            <a:r>
              <a:rPr sz="1500" dirty="0"/>
              <a:t>pagination</a:t>
            </a:r>
            <a:r>
              <a:rPr sz="1500" spc="-50" dirty="0"/>
              <a:t> </a:t>
            </a:r>
            <a:r>
              <a:rPr sz="1500" spc="-10" dirty="0"/>
              <a:t>information.</a:t>
            </a:r>
            <a:endParaRPr sz="1500">
              <a:latin typeface="Arial"/>
              <a:cs typeface="Arial"/>
            </a:endParaRPr>
          </a:p>
          <a:p>
            <a:pPr marL="416559" marR="24765" indent="-403860">
              <a:lnSpc>
                <a:spcPts val="2700"/>
              </a:lnSpc>
              <a:spcBef>
                <a:spcPts val="240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sz="1500" b="1" dirty="0">
                <a:latin typeface="Arial"/>
                <a:cs typeface="Arial"/>
              </a:rPr>
              <a:t>Concurrency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Testing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without</a:t>
            </a:r>
            <a:r>
              <a:rPr sz="1500" b="1" spc="-8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Data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Corruption: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spc="-10" dirty="0"/>
              <a:t>Verify</a:t>
            </a:r>
            <a:r>
              <a:rPr sz="1500" spc="-40" dirty="0"/>
              <a:t> </a:t>
            </a:r>
            <a:r>
              <a:rPr sz="1500" dirty="0"/>
              <a:t>that</a:t>
            </a:r>
            <a:r>
              <a:rPr sz="1500" spc="-70" dirty="0"/>
              <a:t> </a:t>
            </a:r>
            <a:r>
              <a:rPr sz="1500" dirty="0"/>
              <a:t>the</a:t>
            </a:r>
            <a:r>
              <a:rPr sz="1500" spc="-100" dirty="0"/>
              <a:t> </a:t>
            </a:r>
            <a:r>
              <a:rPr sz="1500" dirty="0"/>
              <a:t>API</a:t>
            </a:r>
            <a:r>
              <a:rPr sz="1500" spc="-50" dirty="0"/>
              <a:t> </a:t>
            </a:r>
            <a:r>
              <a:rPr sz="1500" dirty="0"/>
              <a:t>handles</a:t>
            </a:r>
            <a:r>
              <a:rPr sz="1500" spc="-60" dirty="0"/>
              <a:t> </a:t>
            </a:r>
            <a:r>
              <a:rPr sz="1500" dirty="0"/>
              <a:t>concurrent</a:t>
            </a:r>
            <a:r>
              <a:rPr sz="1500" spc="-80" dirty="0"/>
              <a:t> </a:t>
            </a:r>
            <a:r>
              <a:rPr sz="1500" dirty="0"/>
              <a:t>requests</a:t>
            </a:r>
            <a:r>
              <a:rPr sz="1500" spc="-65" dirty="0"/>
              <a:t> </a:t>
            </a:r>
            <a:r>
              <a:rPr sz="1500" dirty="0"/>
              <a:t>from</a:t>
            </a:r>
            <a:r>
              <a:rPr sz="1500" spc="-60" dirty="0"/>
              <a:t> </a:t>
            </a:r>
            <a:r>
              <a:rPr sz="1500" dirty="0"/>
              <a:t>multiple</a:t>
            </a:r>
            <a:r>
              <a:rPr sz="1500" spc="-45" dirty="0"/>
              <a:t> </a:t>
            </a:r>
            <a:r>
              <a:rPr sz="1500" dirty="0"/>
              <a:t>users</a:t>
            </a:r>
            <a:r>
              <a:rPr sz="1500" spc="-65" dirty="0"/>
              <a:t> </a:t>
            </a:r>
            <a:r>
              <a:rPr sz="1500" dirty="0"/>
              <a:t>without</a:t>
            </a:r>
            <a:r>
              <a:rPr sz="1500" spc="-35" dirty="0"/>
              <a:t> </a:t>
            </a:r>
            <a:r>
              <a:rPr sz="1500" spc="-20" dirty="0"/>
              <a:t>data </a:t>
            </a:r>
            <a:r>
              <a:rPr sz="1500" dirty="0"/>
              <a:t>corruption</a:t>
            </a:r>
            <a:r>
              <a:rPr sz="1500" spc="-65" dirty="0"/>
              <a:t> </a:t>
            </a:r>
            <a:r>
              <a:rPr sz="1500" dirty="0"/>
              <a:t>or</a:t>
            </a:r>
            <a:r>
              <a:rPr sz="1500" spc="-50" dirty="0"/>
              <a:t> </a:t>
            </a:r>
            <a:r>
              <a:rPr sz="1500" dirty="0"/>
              <a:t>conflicts,</a:t>
            </a:r>
            <a:r>
              <a:rPr sz="1500" spc="-75" dirty="0"/>
              <a:t> </a:t>
            </a:r>
            <a:r>
              <a:rPr sz="1500" dirty="0"/>
              <a:t>ensuring</a:t>
            </a:r>
            <a:r>
              <a:rPr sz="1500" spc="-50" dirty="0"/>
              <a:t> </a:t>
            </a:r>
            <a:r>
              <a:rPr sz="1500" dirty="0"/>
              <a:t>data</a:t>
            </a:r>
            <a:r>
              <a:rPr sz="1500" spc="-50" dirty="0"/>
              <a:t> </a:t>
            </a:r>
            <a:r>
              <a:rPr sz="1500" spc="-10" dirty="0"/>
              <a:t>integrity.</a:t>
            </a:r>
            <a:endParaRPr sz="1500">
              <a:latin typeface="Arial"/>
              <a:cs typeface="Arial"/>
            </a:endParaRPr>
          </a:p>
          <a:p>
            <a:pPr marL="416559" marR="394335" indent="-403860">
              <a:lnSpc>
                <a:spcPts val="2700"/>
              </a:lnSpc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sz="1500" b="1" dirty="0">
                <a:latin typeface="Arial"/>
                <a:cs typeface="Arial"/>
              </a:rPr>
              <a:t>Response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Format</a:t>
            </a:r>
            <a:r>
              <a:rPr sz="1500" b="1" spc="-8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Adherence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(JSON/XML):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dirty="0"/>
              <a:t>Ensure</a:t>
            </a:r>
            <a:r>
              <a:rPr sz="1500" spc="-55" dirty="0"/>
              <a:t> </a:t>
            </a:r>
            <a:r>
              <a:rPr sz="1500" dirty="0"/>
              <a:t>that</a:t>
            </a:r>
            <a:r>
              <a:rPr sz="1500" spc="-55" dirty="0"/>
              <a:t> </a:t>
            </a:r>
            <a:r>
              <a:rPr sz="1500" dirty="0"/>
              <a:t>the</a:t>
            </a:r>
            <a:r>
              <a:rPr sz="1500" spc="-105" dirty="0"/>
              <a:t> </a:t>
            </a:r>
            <a:r>
              <a:rPr sz="1500" dirty="0"/>
              <a:t>API</a:t>
            </a:r>
            <a:r>
              <a:rPr sz="1500" spc="-45" dirty="0"/>
              <a:t> </a:t>
            </a:r>
            <a:r>
              <a:rPr sz="1500" dirty="0"/>
              <a:t>consistently</a:t>
            </a:r>
            <a:r>
              <a:rPr sz="1500" spc="-75" dirty="0"/>
              <a:t> </a:t>
            </a:r>
            <a:r>
              <a:rPr sz="1500" dirty="0"/>
              <a:t>returns</a:t>
            </a:r>
            <a:r>
              <a:rPr sz="1500" spc="-80" dirty="0"/>
              <a:t> </a:t>
            </a:r>
            <a:r>
              <a:rPr sz="1500" dirty="0"/>
              <a:t>responses</a:t>
            </a:r>
            <a:r>
              <a:rPr sz="1500" spc="-65" dirty="0"/>
              <a:t> </a:t>
            </a:r>
            <a:r>
              <a:rPr sz="1500" dirty="0"/>
              <a:t>in</a:t>
            </a:r>
            <a:r>
              <a:rPr sz="1500" spc="-40" dirty="0"/>
              <a:t> </a:t>
            </a:r>
            <a:r>
              <a:rPr sz="1500" dirty="0"/>
              <a:t>the</a:t>
            </a:r>
            <a:r>
              <a:rPr sz="1500" spc="-45" dirty="0"/>
              <a:t> </a:t>
            </a:r>
            <a:r>
              <a:rPr sz="1500" dirty="0"/>
              <a:t>specified</a:t>
            </a:r>
            <a:r>
              <a:rPr sz="1500" spc="-65" dirty="0"/>
              <a:t> </a:t>
            </a:r>
            <a:r>
              <a:rPr sz="1500" dirty="0"/>
              <a:t>format</a:t>
            </a:r>
            <a:r>
              <a:rPr sz="1500" spc="-65" dirty="0"/>
              <a:t> </a:t>
            </a:r>
            <a:r>
              <a:rPr sz="1500" spc="-10" dirty="0"/>
              <a:t>(e.g., </a:t>
            </a:r>
            <a:r>
              <a:rPr sz="1500" dirty="0"/>
              <a:t>JSON</a:t>
            </a:r>
            <a:r>
              <a:rPr sz="1500" spc="-35" dirty="0"/>
              <a:t> </a:t>
            </a:r>
            <a:r>
              <a:rPr sz="1500" dirty="0"/>
              <a:t>or</a:t>
            </a:r>
            <a:r>
              <a:rPr sz="1500" spc="-30" dirty="0"/>
              <a:t> </a:t>
            </a:r>
            <a:r>
              <a:rPr sz="1500" dirty="0"/>
              <a:t>XML)</a:t>
            </a:r>
            <a:r>
              <a:rPr sz="1500" spc="-25" dirty="0"/>
              <a:t> </a:t>
            </a:r>
            <a:r>
              <a:rPr sz="1500" dirty="0"/>
              <a:t>and</a:t>
            </a:r>
            <a:r>
              <a:rPr sz="1500" spc="-30" dirty="0"/>
              <a:t> </a:t>
            </a:r>
            <a:r>
              <a:rPr sz="1500" dirty="0"/>
              <a:t>adheres</a:t>
            </a:r>
            <a:r>
              <a:rPr sz="1500" spc="-50" dirty="0"/>
              <a:t> </a:t>
            </a:r>
            <a:r>
              <a:rPr sz="1500" dirty="0"/>
              <a:t>to</a:t>
            </a:r>
            <a:r>
              <a:rPr sz="1500" spc="-30" dirty="0"/>
              <a:t> </a:t>
            </a:r>
            <a:r>
              <a:rPr sz="1500" dirty="0"/>
              <a:t>the</a:t>
            </a:r>
            <a:r>
              <a:rPr sz="1500" spc="-40" dirty="0"/>
              <a:t> </a:t>
            </a:r>
            <a:r>
              <a:rPr sz="1500" dirty="0"/>
              <a:t>defined</a:t>
            </a:r>
            <a:r>
              <a:rPr sz="1500" spc="-40" dirty="0"/>
              <a:t> </a:t>
            </a:r>
            <a:r>
              <a:rPr sz="1500" dirty="0"/>
              <a:t>schema</a:t>
            </a:r>
            <a:r>
              <a:rPr sz="1500" spc="-45" dirty="0"/>
              <a:t> </a:t>
            </a:r>
            <a:r>
              <a:rPr sz="1500" dirty="0"/>
              <a:t>for</a:t>
            </a:r>
            <a:r>
              <a:rPr sz="1500" spc="-40" dirty="0"/>
              <a:t> </a:t>
            </a:r>
            <a:r>
              <a:rPr sz="1500" dirty="0"/>
              <a:t>data</a:t>
            </a:r>
            <a:r>
              <a:rPr sz="1500" spc="-40" dirty="0"/>
              <a:t> </a:t>
            </a:r>
            <a:r>
              <a:rPr sz="1500" spc="-10" dirty="0"/>
              <a:t>structure.</a:t>
            </a:r>
            <a:endParaRPr sz="1500">
              <a:latin typeface="Arial"/>
              <a:cs typeface="Arial"/>
            </a:endParaRPr>
          </a:p>
          <a:p>
            <a:pPr marL="415925" indent="-403225">
              <a:lnSpc>
                <a:spcPct val="100000"/>
              </a:lnSpc>
              <a:spcBef>
                <a:spcPts val="660"/>
              </a:spcBef>
              <a:buClr>
                <a:srgbClr val="3E9C35"/>
              </a:buClr>
              <a:buFont typeface="Arial MT"/>
              <a:buChar char="•"/>
              <a:tabLst>
                <a:tab pos="415925" algn="l"/>
              </a:tabLst>
            </a:pPr>
            <a:r>
              <a:rPr sz="1500" b="1" dirty="0">
                <a:latin typeface="Arial"/>
                <a:cs typeface="Arial"/>
              </a:rPr>
              <a:t>Rate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Limiting</a:t>
            </a:r>
            <a:r>
              <a:rPr sz="1500" b="1" spc="-9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Assessment: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spc="-40" dirty="0"/>
              <a:t>Test</a:t>
            </a:r>
            <a:r>
              <a:rPr sz="1500" spc="-45" dirty="0"/>
              <a:t> </a:t>
            </a:r>
            <a:r>
              <a:rPr sz="1500" spc="-10" dirty="0"/>
              <a:t>the</a:t>
            </a:r>
            <a:r>
              <a:rPr sz="1500" spc="-105" dirty="0"/>
              <a:t> </a:t>
            </a:r>
            <a:r>
              <a:rPr sz="1500" dirty="0"/>
              <a:t>API's</a:t>
            </a:r>
            <a:r>
              <a:rPr sz="1500" spc="-25" dirty="0"/>
              <a:t> </a:t>
            </a:r>
            <a:r>
              <a:rPr sz="1500" dirty="0"/>
              <a:t>rate</a:t>
            </a:r>
            <a:r>
              <a:rPr sz="1500" spc="-40" dirty="0"/>
              <a:t> </a:t>
            </a:r>
            <a:r>
              <a:rPr sz="1500" dirty="0"/>
              <a:t>limiting</a:t>
            </a:r>
            <a:r>
              <a:rPr sz="1500" spc="-30" dirty="0"/>
              <a:t> </a:t>
            </a:r>
            <a:r>
              <a:rPr sz="1500" dirty="0"/>
              <a:t>by</a:t>
            </a:r>
            <a:r>
              <a:rPr sz="1500" spc="-30" dirty="0"/>
              <a:t> </a:t>
            </a:r>
            <a:r>
              <a:rPr sz="1500" dirty="0"/>
              <a:t>sending</a:t>
            </a:r>
            <a:r>
              <a:rPr sz="1500" spc="-45" dirty="0"/>
              <a:t> </a:t>
            </a:r>
            <a:r>
              <a:rPr sz="1500" dirty="0"/>
              <a:t>requests</a:t>
            </a:r>
            <a:r>
              <a:rPr sz="1500" spc="-60" dirty="0"/>
              <a:t> </a:t>
            </a:r>
            <a:r>
              <a:rPr sz="1500" dirty="0"/>
              <a:t>at</a:t>
            </a:r>
            <a:r>
              <a:rPr sz="1500" spc="-35" dirty="0"/>
              <a:t> </a:t>
            </a:r>
            <a:r>
              <a:rPr sz="1500" dirty="0"/>
              <a:t>a</a:t>
            </a:r>
            <a:r>
              <a:rPr sz="1500" spc="-30" dirty="0"/>
              <a:t> </a:t>
            </a:r>
            <a:r>
              <a:rPr sz="1500" dirty="0"/>
              <a:t>rate</a:t>
            </a:r>
            <a:r>
              <a:rPr sz="1500" spc="-40" dirty="0"/>
              <a:t> </a:t>
            </a:r>
            <a:r>
              <a:rPr sz="1500" dirty="0"/>
              <a:t>that</a:t>
            </a:r>
            <a:r>
              <a:rPr sz="1500" spc="-45" dirty="0"/>
              <a:t> </a:t>
            </a:r>
            <a:r>
              <a:rPr sz="1500" dirty="0"/>
              <a:t>exceeds</a:t>
            </a:r>
            <a:r>
              <a:rPr sz="1500" spc="-30" dirty="0"/>
              <a:t> </a:t>
            </a:r>
            <a:r>
              <a:rPr sz="1500" dirty="0"/>
              <a:t>the</a:t>
            </a:r>
            <a:r>
              <a:rPr sz="1500" spc="-45" dirty="0"/>
              <a:t> </a:t>
            </a:r>
            <a:r>
              <a:rPr sz="1500" dirty="0"/>
              <a:t>defined</a:t>
            </a:r>
            <a:r>
              <a:rPr sz="1500" spc="-40" dirty="0"/>
              <a:t> </a:t>
            </a:r>
            <a:r>
              <a:rPr sz="1500" dirty="0"/>
              <a:t>limits</a:t>
            </a:r>
            <a:r>
              <a:rPr sz="1500" spc="-25" dirty="0"/>
              <a:t> </a:t>
            </a:r>
            <a:r>
              <a:rPr sz="1500" dirty="0"/>
              <a:t>and</a:t>
            </a:r>
            <a:r>
              <a:rPr sz="1500" spc="-30" dirty="0"/>
              <a:t> </a:t>
            </a:r>
            <a:r>
              <a:rPr sz="1500" spc="-10" dirty="0"/>
              <a:t>checking</a:t>
            </a:r>
            <a:endParaRPr sz="1500">
              <a:latin typeface="Arial"/>
              <a:cs typeface="Arial"/>
            </a:endParaRPr>
          </a:p>
          <a:p>
            <a:pPr marL="416559">
              <a:lnSpc>
                <a:spcPct val="100000"/>
              </a:lnSpc>
              <a:spcBef>
                <a:spcPts val="900"/>
              </a:spcBef>
            </a:pPr>
            <a:r>
              <a:rPr sz="1500" dirty="0"/>
              <a:t>for</a:t>
            </a:r>
            <a:r>
              <a:rPr sz="1500" spc="-55" dirty="0"/>
              <a:t> </a:t>
            </a:r>
            <a:r>
              <a:rPr sz="1500" dirty="0"/>
              <a:t>the</a:t>
            </a:r>
            <a:r>
              <a:rPr sz="1500" spc="-40" dirty="0"/>
              <a:t> </a:t>
            </a:r>
            <a:r>
              <a:rPr sz="1500" dirty="0"/>
              <a:t>expected</a:t>
            </a:r>
            <a:r>
              <a:rPr sz="1500" spc="-50" dirty="0"/>
              <a:t> </a:t>
            </a:r>
            <a:r>
              <a:rPr sz="1500" dirty="0"/>
              <a:t>rate-limiting</a:t>
            </a:r>
            <a:r>
              <a:rPr sz="1500" spc="-55" dirty="0"/>
              <a:t> </a:t>
            </a:r>
            <a:r>
              <a:rPr sz="1500" dirty="0"/>
              <a:t>responses,</a:t>
            </a:r>
            <a:r>
              <a:rPr sz="1500" spc="-80" dirty="0"/>
              <a:t> </a:t>
            </a:r>
            <a:r>
              <a:rPr sz="1500" dirty="0"/>
              <a:t>ensuring</a:t>
            </a:r>
            <a:r>
              <a:rPr sz="1500" spc="-55" dirty="0"/>
              <a:t> </a:t>
            </a:r>
            <a:r>
              <a:rPr sz="1500" dirty="0"/>
              <a:t>that</a:t>
            </a:r>
            <a:r>
              <a:rPr sz="1500" spc="-50" dirty="0"/>
              <a:t> </a:t>
            </a:r>
            <a:r>
              <a:rPr sz="1500" dirty="0"/>
              <a:t>limits</a:t>
            </a:r>
            <a:r>
              <a:rPr sz="1500" spc="-35" dirty="0"/>
              <a:t> </a:t>
            </a:r>
            <a:r>
              <a:rPr sz="1500" dirty="0"/>
              <a:t>are</a:t>
            </a:r>
            <a:r>
              <a:rPr sz="1500" spc="-50" dirty="0"/>
              <a:t> </a:t>
            </a:r>
            <a:r>
              <a:rPr sz="1500" spc="-10" dirty="0"/>
              <a:t>enforced.</a:t>
            </a:r>
            <a:endParaRPr sz="1500"/>
          </a:p>
          <a:p>
            <a:pPr marL="416559" marR="675640" indent="-403860">
              <a:lnSpc>
                <a:spcPct val="150000"/>
              </a:lnSpc>
              <a:spcBef>
                <a:spcPts val="5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sz="1500" b="1" dirty="0">
                <a:latin typeface="Arial"/>
                <a:cs typeface="Arial"/>
              </a:rPr>
              <a:t>HTTP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Method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Support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for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CRUD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Operations: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spc="-10" dirty="0"/>
              <a:t>Verify</a:t>
            </a:r>
            <a:r>
              <a:rPr sz="1500" spc="-50" dirty="0"/>
              <a:t> </a:t>
            </a:r>
            <a:r>
              <a:rPr sz="1500" dirty="0"/>
              <a:t>that</a:t>
            </a:r>
            <a:r>
              <a:rPr sz="1500" spc="-50" dirty="0"/>
              <a:t> </a:t>
            </a:r>
            <a:r>
              <a:rPr sz="1500" dirty="0"/>
              <a:t>the</a:t>
            </a:r>
            <a:r>
              <a:rPr sz="1500" spc="-105" dirty="0"/>
              <a:t> </a:t>
            </a:r>
            <a:r>
              <a:rPr sz="1500" dirty="0"/>
              <a:t>API</a:t>
            </a:r>
            <a:r>
              <a:rPr sz="1500" spc="-45" dirty="0"/>
              <a:t> </a:t>
            </a:r>
            <a:r>
              <a:rPr sz="1500" dirty="0"/>
              <a:t>supports</a:t>
            </a:r>
            <a:r>
              <a:rPr sz="1500" spc="-60" dirty="0"/>
              <a:t> </a:t>
            </a:r>
            <a:r>
              <a:rPr sz="1500" dirty="0"/>
              <a:t>a</a:t>
            </a:r>
            <a:r>
              <a:rPr sz="1500" spc="-40" dirty="0"/>
              <a:t> </a:t>
            </a:r>
            <a:r>
              <a:rPr sz="1500" dirty="0"/>
              <a:t>variety</a:t>
            </a:r>
            <a:r>
              <a:rPr sz="1500" spc="-40" dirty="0"/>
              <a:t> </a:t>
            </a:r>
            <a:r>
              <a:rPr sz="1500" dirty="0"/>
              <a:t>of</a:t>
            </a:r>
            <a:r>
              <a:rPr sz="1500" spc="-55" dirty="0"/>
              <a:t> </a:t>
            </a:r>
            <a:r>
              <a:rPr sz="1500" dirty="0"/>
              <a:t>HTTP</a:t>
            </a:r>
            <a:r>
              <a:rPr sz="1500" spc="-50" dirty="0"/>
              <a:t> </a:t>
            </a:r>
            <a:r>
              <a:rPr sz="1500" dirty="0"/>
              <a:t>methods</a:t>
            </a:r>
            <a:r>
              <a:rPr sz="1500" spc="-60" dirty="0"/>
              <a:t> </a:t>
            </a:r>
            <a:r>
              <a:rPr sz="1500" spc="-25" dirty="0"/>
              <a:t>(GET,</a:t>
            </a:r>
            <a:r>
              <a:rPr sz="1500" spc="-45" dirty="0"/>
              <a:t> </a:t>
            </a:r>
            <a:r>
              <a:rPr sz="1500" spc="-25" dirty="0"/>
              <a:t>POST,</a:t>
            </a:r>
            <a:r>
              <a:rPr sz="1500" spc="-45" dirty="0"/>
              <a:t> </a:t>
            </a:r>
            <a:r>
              <a:rPr sz="1500" spc="-20" dirty="0"/>
              <a:t>PUT, </a:t>
            </a:r>
            <a:r>
              <a:rPr sz="1500" dirty="0"/>
              <a:t>DELETE)</a:t>
            </a:r>
            <a:r>
              <a:rPr sz="1500" spc="-30" dirty="0"/>
              <a:t> </a:t>
            </a:r>
            <a:r>
              <a:rPr sz="1500" dirty="0"/>
              <a:t>for</a:t>
            </a:r>
            <a:r>
              <a:rPr sz="1500" spc="-40" dirty="0"/>
              <a:t> </a:t>
            </a:r>
            <a:r>
              <a:rPr sz="1500" dirty="0"/>
              <a:t>Create,</a:t>
            </a:r>
            <a:r>
              <a:rPr sz="1500" spc="-50" dirty="0"/>
              <a:t> </a:t>
            </a:r>
            <a:r>
              <a:rPr sz="1500" dirty="0"/>
              <a:t>Read,</a:t>
            </a:r>
            <a:r>
              <a:rPr sz="1500" spc="-50" dirty="0"/>
              <a:t> </a:t>
            </a:r>
            <a:r>
              <a:rPr sz="1500" dirty="0"/>
              <a:t>Update,</a:t>
            </a:r>
            <a:r>
              <a:rPr sz="1500" spc="-55" dirty="0"/>
              <a:t> </a:t>
            </a:r>
            <a:r>
              <a:rPr sz="1500" dirty="0"/>
              <a:t>and</a:t>
            </a:r>
            <a:r>
              <a:rPr sz="1500" spc="-35" dirty="0"/>
              <a:t> </a:t>
            </a:r>
            <a:r>
              <a:rPr sz="1500" dirty="0"/>
              <a:t>Delete</a:t>
            </a:r>
            <a:r>
              <a:rPr sz="1500" spc="-40" dirty="0"/>
              <a:t> </a:t>
            </a:r>
            <a:r>
              <a:rPr sz="1500" dirty="0"/>
              <a:t>operations,</a:t>
            </a:r>
            <a:r>
              <a:rPr sz="1500" spc="-75" dirty="0"/>
              <a:t> </a:t>
            </a:r>
            <a:r>
              <a:rPr sz="1500" dirty="0"/>
              <a:t>and</a:t>
            </a:r>
            <a:r>
              <a:rPr sz="1500" spc="-35" dirty="0"/>
              <a:t> </a:t>
            </a:r>
            <a:r>
              <a:rPr sz="1500" dirty="0"/>
              <a:t>that</a:t>
            </a:r>
            <a:r>
              <a:rPr sz="1500" spc="-60" dirty="0"/>
              <a:t> </a:t>
            </a:r>
            <a:r>
              <a:rPr sz="1500" dirty="0"/>
              <a:t>it</a:t>
            </a:r>
            <a:r>
              <a:rPr sz="1500" spc="-40" dirty="0"/>
              <a:t> </a:t>
            </a:r>
            <a:r>
              <a:rPr sz="1500" dirty="0"/>
              <a:t>returns</a:t>
            </a:r>
            <a:r>
              <a:rPr sz="1500" spc="-60" dirty="0"/>
              <a:t> </a:t>
            </a:r>
            <a:r>
              <a:rPr sz="1500" dirty="0"/>
              <a:t>appropriate</a:t>
            </a:r>
            <a:r>
              <a:rPr sz="1500" spc="-60" dirty="0"/>
              <a:t> </a:t>
            </a:r>
            <a:r>
              <a:rPr sz="1500" dirty="0"/>
              <a:t>responses</a:t>
            </a:r>
            <a:r>
              <a:rPr sz="1500" spc="-60" dirty="0"/>
              <a:t> </a:t>
            </a:r>
            <a:r>
              <a:rPr sz="1500" dirty="0"/>
              <a:t>for</a:t>
            </a:r>
            <a:r>
              <a:rPr sz="1500" spc="-55" dirty="0"/>
              <a:t> </a:t>
            </a:r>
            <a:r>
              <a:rPr sz="1500" spc="-10" dirty="0"/>
              <a:t>each.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18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spc="-65" dirty="0"/>
              <a:t> </a:t>
            </a:r>
            <a:r>
              <a:rPr dirty="0"/>
              <a:t>Functional</a:t>
            </a:r>
            <a:r>
              <a:rPr spc="-100" dirty="0"/>
              <a:t> </a:t>
            </a:r>
            <a:r>
              <a:rPr spc="-20" dirty="0"/>
              <a:t>Test</a:t>
            </a:r>
            <a:r>
              <a:rPr spc="-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6559" marR="5080" indent="-403860">
              <a:lnSpc>
                <a:spcPct val="150000"/>
              </a:lnSpc>
              <a:spcBef>
                <a:spcPts val="100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b="1" dirty="0">
                <a:latin typeface="Arial"/>
                <a:cs typeface="Arial"/>
              </a:rPr>
              <a:t>Error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Handling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Capabilities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for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Meaningful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Messages: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dirty="0"/>
              <a:t>Evaluate</a:t>
            </a:r>
            <a:r>
              <a:rPr spc="-30" dirty="0"/>
              <a:t> </a:t>
            </a:r>
            <a:r>
              <a:rPr spc="-10" dirty="0"/>
              <a:t>the</a:t>
            </a:r>
            <a:r>
              <a:rPr spc="-105" dirty="0"/>
              <a:t> </a:t>
            </a:r>
            <a:r>
              <a:rPr dirty="0"/>
              <a:t>API's</a:t>
            </a:r>
            <a:r>
              <a:rPr spc="-40" dirty="0"/>
              <a:t> </a:t>
            </a:r>
            <a:r>
              <a:rPr dirty="0"/>
              <a:t>error-handling</a:t>
            </a:r>
            <a:r>
              <a:rPr spc="-60" dirty="0"/>
              <a:t> </a:t>
            </a:r>
            <a:r>
              <a:rPr dirty="0"/>
              <a:t>capabilities</a:t>
            </a:r>
            <a:r>
              <a:rPr spc="-6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intentionally</a:t>
            </a:r>
            <a:r>
              <a:rPr spc="-50" dirty="0"/>
              <a:t> </a:t>
            </a:r>
            <a:r>
              <a:rPr dirty="0"/>
              <a:t>causing</a:t>
            </a:r>
            <a:r>
              <a:rPr spc="-60" dirty="0"/>
              <a:t> </a:t>
            </a:r>
            <a:r>
              <a:rPr dirty="0"/>
              <a:t>errors,</a:t>
            </a:r>
            <a:r>
              <a:rPr spc="-60" dirty="0"/>
              <a:t> </a:t>
            </a:r>
            <a:r>
              <a:rPr spc="-20" dirty="0"/>
              <a:t>such </a:t>
            </a:r>
            <a:r>
              <a:rPr dirty="0"/>
              <a:t>as</a:t>
            </a:r>
            <a:r>
              <a:rPr spc="-40" dirty="0"/>
              <a:t> </a:t>
            </a:r>
            <a:r>
              <a:rPr dirty="0"/>
              <a:t>invalid</a:t>
            </a:r>
            <a:r>
              <a:rPr spc="-5" dirty="0"/>
              <a:t> </a:t>
            </a:r>
            <a:r>
              <a:rPr dirty="0"/>
              <a:t>inputs</a:t>
            </a:r>
            <a:r>
              <a:rPr spc="-45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unexpected</a:t>
            </a:r>
            <a:r>
              <a:rPr spc="-55" dirty="0"/>
              <a:t> </a:t>
            </a:r>
            <a:r>
              <a:rPr dirty="0"/>
              <a:t>situations,</a:t>
            </a:r>
            <a:r>
              <a:rPr spc="-6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confirm</a:t>
            </a:r>
            <a:r>
              <a:rPr spc="-45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consistently</a:t>
            </a:r>
            <a:r>
              <a:rPr spc="-60" dirty="0"/>
              <a:t> </a:t>
            </a:r>
            <a:r>
              <a:rPr dirty="0"/>
              <a:t>returns</a:t>
            </a:r>
            <a:r>
              <a:rPr spc="-50" dirty="0"/>
              <a:t> </a:t>
            </a:r>
            <a:r>
              <a:rPr dirty="0"/>
              <a:t>meaningful</a:t>
            </a:r>
            <a:r>
              <a:rPr spc="-50" dirty="0"/>
              <a:t> </a:t>
            </a:r>
            <a:r>
              <a:rPr dirty="0"/>
              <a:t>error</a:t>
            </a:r>
            <a:r>
              <a:rPr spc="-40" dirty="0"/>
              <a:t> </a:t>
            </a:r>
            <a:r>
              <a:rPr dirty="0"/>
              <a:t>messages</a:t>
            </a:r>
            <a:r>
              <a:rPr spc="-5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spc="-10" dirty="0"/>
              <a:t>troubleshooting.</a:t>
            </a:r>
          </a:p>
          <a:p>
            <a:pPr marL="415925" indent="-403225">
              <a:lnSpc>
                <a:spcPct val="100000"/>
              </a:lnSpc>
              <a:spcBef>
                <a:spcPts val="840"/>
              </a:spcBef>
              <a:buClr>
                <a:srgbClr val="3E9C35"/>
              </a:buClr>
              <a:buFont typeface="Arial MT"/>
              <a:buChar char="•"/>
              <a:tabLst>
                <a:tab pos="415925" algn="l"/>
              </a:tabLst>
            </a:pPr>
            <a:r>
              <a:rPr b="1" dirty="0">
                <a:latin typeface="Arial"/>
                <a:cs typeface="Arial"/>
              </a:rPr>
              <a:t>Sorting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and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Filtering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Validation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for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Resource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Listings: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spc="-10" dirty="0"/>
              <a:t>Verify</a:t>
            </a:r>
            <a:r>
              <a:rPr spc="-35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95" dirty="0"/>
              <a:t> </a:t>
            </a:r>
            <a:r>
              <a:rPr dirty="0"/>
              <a:t>API</a:t>
            </a:r>
            <a:r>
              <a:rPr spc="-25" dirty="0"/>
              <a:t> </a:t>
            </a:r>
            <a:r>
              <a:rPr dirty="0"/>
              <a:t>correctly</a:t>
            </a:r>
            <a:r>
              <a:rPr spc="-60" dirty="0"/>
              <a:t> </a:t>
            </a:r>
            <a:r>
              <a:rPr dirty="0"/>
              <a:t>sorts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filters</a:t>
            </a:r>
            <a:r>
              <a:rPr spc="-50" dirty="0"/>
              <a:t> </a:t>
            </a:r>
            <a:r>
              <a:rPr dirty="0"/>
              <a:t>resource</a:t>
            </a:r>
            <a:r>
              <a:rPr spc="-55" dirty="0"/>
              <a:t> </a:t>
            </a:r>
            <a:r>
              <a:rPr dirty="0"/>
              <a:t>listings</a:t>
            </a:r>
            <a:r>
              <a:rPr spc="-50" dirty="0"/>
              <a:t> </a:t>
            </a:r>
            <a:r>
              <a:rPr dirty="0"/>
              <a:t>based</a:t>
            </a:r>
            <a:r>
              <a:rPr spc="-4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spc="-10" dirty="0"/>
              <a:t>specified</a:t>
            </a:r>
          </a:p>
          <a:p>
            <a:pPr marL="416559">
              <a:lnSpc>
                <a:spcPct val="100000"/>
              </a:lnSpc>
              <a:spcBef>
                <a:spcPts val="840"/>
              </a:spcBef>
            </a:pPr>
            <a:r>
              <a:rPr dirty="0"/>
              <a:t>parameters,</a:t>
            </a:r>
            <a:r>
              <a:rPr spc="-35" dirty="0"/>
              <a:t> </a:t>
            </a:r>
            <a:r>
              <a:rPr spc="-10" dirty="0"/>
              <a:t>maintaining</a:t>
            </a:r>
            <a:r>
              <a:rPr spc="-45" dirty="0"/>
              <a:t> </a:t>
            </a:r>
            <a:r>
              <a:rPr dirty="0"/>
              <a:t>data</a:t>
            </a:r>
            <a:r>
              <a:rPr spc="-10" dirty="0"/>
              <a:t> accuracy.</a:t>
            </a:r>
          </a:p>
          <a:p>
            <a:pPr marL="416559" marR="102235" indent="-403860">
              <a:lnSpc>
                <a:spcPct val="150000"/>
              </a:lnSpc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b="1" dirty="0">
                <a:latin typeface="Arial"/>
                <a:cs typeface="Arial"/>
              </a:rPr>
              <a:t>Handling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Long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or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Complex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Data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without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Data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Corruption: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dirty="0"/>
              <a:t>Ensure</a:t>
            </a:r>
            <a:r>
              <a:rPr spc="-45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95" dirty="0"/>
              <a:t> </a:t>
            </a:r>
            <a:r>
              <a:rPr dirty="0"/>
              <a:t>API</a:t>
            </a:r>
            <a:r>
              <a:rPr spc="-30" dirty="0"/>
              <a:t> </a:t>
            </a:r>
            <a:r>
              <a:rPr dirty="0"/>
              <a:t>properly</a:t>
            </a:r>
            <a:r>
              <a:rPr spc="-50" dirty="0"/>
              <a:t> </a:t>
            </a:r>
            <a:r>
              <a:rPr dirty="0"/>
              <a:t>handles</a:t>
            </a:r>
            <a:r>
              <a:rPr spc="-45" dirty="0"/>
              <a:t> </a:t>
            </a:r>
            <a:r>
              <a:rPr dirty="0"/>
              <a:t>long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complex</a:t>
            </a:r>
            <a:r>
              <a:rPr spc="-50" dirty="0"/>
              <a:t> </a:t>
            </a:r>
            <a:r>
              <a:rPr dirty="0"/>
              <a:t>strings,</a:t>
            </a:r>
            <a:r>
              <a:rPr spc="-65" dirty="0"/>
              <a:t> </a:t>
            </a:r>
            <a:r>
              <a:rPr dirty="0"/>
              <a:t>such</a:t>
            </a:r>
            <a:r>
              <a:rPr spc="-3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spc="-20" dirty="0"/>
              <a:t>URLs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text</a:t>
            </a:r>
            <a:r>
              <a:rPr spc="-10" dirty="0"/>
              <a:t> </a:t>
            </a:r>
            <a:r>
              <a:rPr dirty="0"/>
              <a:t>fields,</a:t>
            </a:r>
            <a:r>
              <a:rPr spc="-40" dirty="0"/>
              <a:t> </a:t>
            </a:r>
            <a:r>
              <a:rPr dirty="0"/>
              <a:t>without</a:t>
            </a:r>
            <a:r>
              <a:rPr spc="-25" dirty="0"/>
              <a:t> </a:t>
            </a:r>
            <a:r>
              <a:rPr dirty="0"/>
              <a:t>truncating</a:t>
            </a:r>
            <a:r>
              <a:rPr spc="-65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corrupting</a:t>
            </a:r>
            <a:r>
              <a:rPr spc="-5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data.</a:t>
            </a:r>
          </a:p>
          <a:p>
            <a:pPr marL="416559" marR="123189" indent="-403860">
              <a:lnSpc>
                <a:spcPct val="150000"/>
              </a:lnSpc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b="1" dirty="0">
                <a:latin typeface="Arial"/>
                <a:cs typeface="Arial"/>
              </a:rPr>
              <a:t>Content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Negotiation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Support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for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Multiple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Formats: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spc="-30" dirty="0"/>
              <a:t>Test </a:t>
            </a:r>
            <a:r>
              <a:rPr spc="-10" dirty="0"/>
              <a:t>the</a:t>
            </a:r>
            <a:r>
              <a:rPr spc="-105" dirty="0"/>
              <a:t> </a:t>
            </a:r>
            <a:r>
              <a:rPr dirty="0"/>
              <a:t>API's</a:t>
            </a:r>
            <a:r>
              <a:rPr spc="-30" dirty="0"/>
              <a:t> </a:t>
            </a:r>
            <a:r>
              <a:rPr dirty="0"/>
              <a:t>support</a:t>
            </a:r>
            <a:r>
              <a:rPr spc="-5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content</a:t>
            </a:r>
            <a:r>
              <a:rPr spc="-50" dirty="0"/>
              <a:t> </a:t>
            </a:r>
            <a:r>
              <a:rPr dirty="0"/>
              <a:t>negotiation</a:t>
            </a:r>
            <a:r>
              <a:rPr spc="-6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specifying</a:t>
            </a:r>
            <a:r>
              <a:rPr spc="-45" dirty="0"/>
              <a:t> </a:t>
            </a:r>
            <a:r>
              <a:rPr spc="-10" dirty="0"/>
              <a:t>different</a:t>
            </a:r>
            <a:r>
              <a:rPr spc="-120" dirty="0"/>
              <a:t> </a:t>
            </a:r>
            <a:r>
              <a:rPr dirty="0"/>
              <a:t>Accept</a:t>
            </a:r>
            <a:r>
              <a:rPr spc="-50" dirty="0"/>
              <a:t> </a:t>
            </a:r>
            <a:r>
              <a:rPr spc="-10" dirty="0"/>
              <a:t>headers </a:t>
            </a:r>
            <a:r>
              <a:rPr dirty="0"/>
              <a:t>(e.g.,</a:t>
            </a:r>
            <a:r>
              <a:rPr spc="-55" dirty="0"/>
              <a:t> </a:t>
            </a:r>
            <a:r>
              <a:rPr dirty="0"/>
              <a:t>JSON,</a:t>
            </a:r>
            <a:r>
              <a:rPr spc="-25" dirty="0"/>
              <a:t> </a:t>
            </a:r>
            <a:r>
              <a:rPr dirty="0"/>
              <a:t>XML)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verifying</a:t>
            </a:r>
            <a:r>
              <a:rPr spc="-1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response</a:t>
            </a:r>
            <a:r>
              <a:rPr spc="-60" dirty="0"/>
              <a:t> </a:t>
            </a:r>
            <a:r>
              <a:rPr dirty="0"/>
              <a:t>format</a:t>
            </a:r>
            <a:r>
              <a:rPr spc="-40" dirty="0"/>
              <a:t> </a:t>
            </a:r>
            <a:r>
              <a:rPr dirty="0"/>
              <a:t>matches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requested</a:t>
            </a:r>
            <a:r>
              <a:rPr spc="-55" dirty="0"/>
              <a:t> </a:t>
            </a:r>
            <a:r>
              <a:rPr spc="-10" dirty="0"/>
              <a:t>format.</a:t>
            </a:r>
          </a:p>
          <a:p>
            <a:pPr marL="416559" marR="360045" indent="-403860">
              <a:lnSpc>
                <a:spcPct val="150000"/>
              </a:lnSpc>
              <a:spcBef>
                <a:spcPts val="5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b="1" dirty="0">
                <a:latin typeface="Arial"/>
                <a:cs typeface="Arial"/>
              </a:rPr>
              <a:t>Resource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Not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Found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Handling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(404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Not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Found):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dirty="0"/>
              <a:t>Confirm</a:t>
            </a:r>
            <a:r>
              <a:rPr spc="-4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105" dirty="0"/>
              <a:t> </a:t>
            </a:r>
            <a:r>
              <a:rPr dirty="0"/>
              <a:t>API</a:t>
            </a:r>
            <a:r>
              <a:rPr spc="-20" dirty="0"/>
              <a:t> </a:t>
            </a:r>
            <a:r>
              <a:rPr dirty="0"/>
              <a:t>consistently</a:t>
            </a:r>
            <a:r>
              <a:rPr spc="-55" dirty="0"/>
              <a:t> </a:t>
            </a:r>
            <a:r>
              <a:rPr dirty="0"/>
              <a:t>returns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appropriate</a:t>
            </a:r>
            <a:r>
              <a:rPr spc="-60" dirty="0"/>
              <a:t> </a:t>
            </a:r>
            <a:r>
              <a:rPr dirty="0"/>
              <a:t>"404</a:t>
            </a:r>
            <a:r>
              <a:rPr spc="-30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Found"</a:t>
            </a:r>
            <a:r>
              <a:rPr spc="-45" dirty="0"/>
              <a:t> </a:t>
            </a:r>
            <a:r>
              <a:rPr spc="-10" dirty="0"/>
              <a:t>response </a:t>
            </a:r>
            <a:r>
              <a:rPr dirty="0"/>
              <a:t>when</a:t>
            </a:r>
            <a:r>
              <a:rPr spc="-20" dirty="0"/>
              <a:t> </a:t>
            </a:r>
            <a:r>
              <a:rPr dirty="0"/>
              <a:t>attempting</a:t>
            </a:r>
            <a:r>
              <a:rPr spc="-5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access</a:t>
            </a:r>
            <a:r>
              <a:rPr spc="-5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non-</a:t>
            </a:r>
            <a:r>
              <a:rPr dirty="0"/>
              <a:t>existent</a:t>
            </a:r>
            <a:r>
              <a:rPr spc="-45" dirty="0"/>
              <a:t> </a:t>
            </a:r>
            <a:r>
              <a:rPr spc="-10" dirty="0"/>
              <a:t>resource.</a:t>
            </a:r>
          </a:p>
          <a:p>
            <a:pPr marL="416559" marR="554990" indent="-403860">
              <a:lnSpc>
                <a:spcPct val="150000"/>
              </a:lnSpc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b="1" dirty="0">
                <a:latin typeface="Arial"/>
                <a:cs typeface="Arial"/>
              </a:rPr>
              <a:t>Response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Time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Measurement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for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Various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Requests: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dirty="0"/>
              <a:t>Measure</a:t>
            </a:r>
            <a:r>
              <a:rPr spc="-60" dirty="0"/>
              <a:t> </a:t>
            </a:r>
            <a:r>
              <a:rPr spc="-10" dirty="0"/>
              <a:t>the</a:t>
            </a:r>
            <a:r>
              <a:rPr spc="-95" dirty="0"/>
              <a:t> </a:t>
            </a:r>
            <a:r>
              <a:rPr dirty="0"/>
              <a:t>API's</a:t>
            </a:r>
            <a:r>
              <a:rPr spc="-40" dirty="0"/>
              <a:t> </a:t>
            </a:r>
            <a:r>
              <a:rPr dirty="0"/>
              <a:t>response</a:t>
            </a:r>
            <a:r>
              <a:rPr spc="-60" dirty="0"/>
              <a:t> </a:t>
            </a:r>
            <a:r>
              <a:rPr dirty="0"/>
              <a:t>time</a:t>
            </a:r>
            <a:r>
              <a:rPr spc="-3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different</a:t>
            </a:r>
            <a:r>
              <a:rPr spc="-55" dirty="0"/>
              <a:t> </a:t>
            </a:r>
            <a:r>
              <a:rPr dirty="0"/>
              <a:t>types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requests</a:t>
            </a:r>
            <a:r>
              <a:rPr spc="-5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assess</a:t>
            </a:r>
            <a:r>
              <a:rPr spc="-60" dirty="0"/>
              <a:t> </a:t>
            </a:r>
            <a:r>
              <a:rPr spc="-25" dirty="0"/>
              <a:t>its </a:t>
            </a:r>
            <a:r>
              <a:rPr dirty="0"/>
              <a:t>performance</a:t>
            </a:r>
            <a:r>
              <a:rPr spc="-7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responsiveness.</a:t>
            </a:r>
          </a:p>
          <a:p>
            <a:pPr marL="416559" marR="54610" indent="-403860">
              <a:lnSpc>
                <a:spcPts val="2520"/>
              </a:lnSpc>
              <a:spcBef>
                <a:spcPts val="100"/>
              </a:spcBef>
              <a:buClr>
                <a:srgbClr val="3E9C35"/>
              </a:buClr>
              <a:buFont typeface="Arial MT"/>
              <a:buChar char="•"/>
              <a:tabLst>
                <a:tab pos="416559" algn="l"/>
              </a:tabLst>
            </a:pPr>
            <a:r>
              <a:rPr b="1" dirty="0">
                <a:latin typeface="Arial"/>
                <a:cs typeface="Arial"/>
              </a:rPr>
              <a:t>Handling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Large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Payloads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(File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Uploads):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spc="-10" dirty="0"/>
              <a:t>Verify</a:t>
            </a:r>
            <a:r>
              <a:rPr spc="-40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dirty="0"/>
              <a:t>API</a:t>
            </a:r>
            <a:r>
              <a:rPr spc="-30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handle</a:t>
            </a:r>
            <a:r>
              <a:rPr spc="-45" dirty="0"/>
              <a:t> </a:t>
            </a:r>
            <a:r>
              <a:rPr dirty="0"/>
              <a:t>large</a:t>
            </a:r>
            <a:r>
              <a:rPr spc="-40" dirty="0"/>
              <a:t> </a:t>
            </a:r>
            <a:r>
              <a:rPr dirty="0"/>
              <a:t>payloads,</a:t>
            </a:r>
            <a:r>
              <a:rPr spc="-45" dirty="0"/>
              <a:t> </a:t>
            </a:r>
            <a:r>
              <a:rPr dirty="0"/>
              <a:t>such</a:t>
            </a:r>
            <a:r>
              <a:rPr spc="-50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file</a:t>
            </a:r>
            <a:r>
              <a:rPr spc="-35" dirty="0"/>
              <a:t> </a:t>
            </a:r>
            <a:r>
              <a:rPr dirty="0"/>
              <a:t>uploads,</a:t>
            </a:r>
            <a:r>
              <a:rPr spc="-55" dirty="0"/>
              <a:t> </a:t>
            </a:r>
            <a:r>
              <a:rPr dirty="0"/>
              <a:t>without</a:t>
            </a:r>
            <a:r>
              <a:rPr spc="-35" dirty="0"/>
              <a:t> </a:t>
            </a:r>
            <a:r>
              <a:rPr dirty="0"/>
              <a:t>encountering</a:t>
            </a:r>
            <a:r>
              <a:rPr spc="-55" dirty="0"/>
              <a:t> </a:t>
            </a:r>
            <a:r>
              <a:rPr spc="-10" dirty="0"/>
              <a:t>errors </a:t>
            </a:r>
            <a:r>
              <a:rPr dirty="0"/>
              <a:t>or</a:t>
            </a:r>
            <a:r>
              <a:rPr spc="-30" dirty="0"/>
              <a:t> </a:t>
            </a:r>
            <a:r>
              <a:rPr dirty="0"/>
              <a:t>significant</a:t>
            </a:r>
            <a:r>
              <a:rPr spc="-55" dirty="0"/>
              <a:t> </a:t>
            </a:r>
            <a:r>
              <a:rPr dirty="0"/>
              <a:t>performance</a:t>
            </a:r>
            <a:r>
              <a:rPr spc="-50" dirty="0"/>
              <a:t> </a:t>
            </a:r>
            <a:r>
              <a:rPr spc="-10" dirty="0"/>
              <a:t>degradation.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Compare</a:t>
            </a:r>
            <a:r>
              <a:rPr spc="-60" dirty="0"/>
              <a:t> </a:t>
            </a:r>
            <a:r>
              <a:rPr dirty="0"/>
              <a:t>UI</a:t>
            </a:r>
            <a:r>
              <a:rPr spc="-75" dirty="0"/>
              <a:t> </a:t>
            </a:r>
            <a:r>
              <a:rPr spc="-10" dirty="0"/>
              <a:t>Testing</a:t>
            </a:r>
            <a:r>
              <a:rPr spc="-65" dirty="0"/>
              <a:t> </a:t>
            </a:r>
            <a:r>
              <a:rPr dirty="0"/>
              <a:t>&amp;</a:t>
            </a:r>
            <a:r>
              <a:rPr spc="-155" dirty="0"/>
              <a:t> </a:t>
            </a:r>
            <a:r>
              <a:rPr dirty="0"/>
              <a:t>API</a:t>
            </a:r>
            <a:r>
              <a:rPr spc="-65" dirty="0"/>
              <a:t> </a:t>
            </a:r>
            <a:r>
              <a:rPr spc="-10" dirty="0"/>
              <a:t>Testing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3168" y="1316648"/>
            <a:ext cx="11712575" cy="4211320"/>
            <a:chOff x="233168" y="1316648"/>
            <a:chExt cx="11712575" cy="4211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68" y="1316648"/>
              <a:ext cx="11711947" cy="4210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763" y="1481328"/>
              <a:ext cx="11396472" cy="38953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20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Challenges</a:t>
            </a:r>
            <a:r>
              <a:rPr spc="-45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dirty="0"/>
              <a:t>API</a:t>
            </a:r>
            <a:r>
              <a:rPr spc="-4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35404"/>
            <a:ext cx="8775065" cy="24263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17804" indent="-205104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217804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There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no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GUI,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which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will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make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difficult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testers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give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input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values</a:t>
            </a:r>
            <a:endParaRPr sz="1500">
              <a:latin typeface="Arial MT"/>
              <a:cs typeface="Arial MT"/>
            </a:endParaRPr>
          </a:p>
          <a:p>
            <a:pPr marL="217804" indent="-205104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217804" algn="l"/>
              </a:tabLst>
            </a:pP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Test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case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management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difficult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since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tester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might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have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deal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with</a:t>
            </a:r>
            <a:r>
              <a:rPr sz="1500" spc="-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millions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cases</a:t>
            </a:r>
            <a:endParaRPr sz="1500">
              <a:latin typeface="Arial MT"/>
              <a:cs typeface="Arial MT"/>
            </a:endParaRPr>
          </a:p>
          <a:p>
            <a:pPr marL="217804" indent="-205104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217804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tester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must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possess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expertise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programming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language(s)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are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targeted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by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endParaRPr sz="1500">
              <a:latin typeface="Arial MT"/>
              <a:cs typeface="Arial MT"/>
            </a:endParaRPr>
          </a:p>
          <a:p>
            <a:pPr marL="217804" indent="-205104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217804" algn="l"/>
              </a:tabLst>
            </a:pP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Time-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consuming,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requires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lot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time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resources</a:t>
            </a:r>
            <a:r>
              <a:rPr sz="1500" spc="-7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develop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tools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design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tests</a:t>
            </a:r>
            <a:endParaRPr sz="1500">
              <a:latin typeface="Arial MT"/>
              <a:cs typeface="Arial MT"/>
            </a:endParaRPr>
          </a:p>
          <a:p>
            <a:pPr marL="222250" indent="-20955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22225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Improper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documentation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will</a:t>
            </a:r>
            <a:r>
              <a:rPr sz="1500" spc="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make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it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difficult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for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designer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understand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purpose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10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calls</a:t>
            </a:r>
            <a:endParaRPr sz="1500">
              <a:latin typeface="Arial MT"/>
              <a:cs typeface="Arial MT"/>
            </a:endParaRPr>
          </a:p>
          <a:p>
            <a:pPr marL="222250" indent="-20955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22225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Proper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call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sequencing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is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required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this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may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lead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inadequate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coverage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testing</a:t>
            </a:r>
            <a:endParaRPr sz="1500">
              <a:latin typeface="Arial MT"/>
              <a:cs typeface="Arial MT"/>
            </a:endParaRPr>
          </a:p>
          <a:p>
            <a:pPr marL="222250" indent="-20955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222250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Exception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handling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functions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need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be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tested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thoroughly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54" y="32384"/>
            <a:ext cx="589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78D6"/>
                </a:solidFill>
                <a:latin typeface="Arial MT"/>
                <a:cs typeface="Arial MT"/>
              </a:rPr>
              <a:t>INTERNAL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spc="-90" dirty="0"/>
              <a:t> </a:t>
            </a:r>
            <a:r>
              <a:rPr spc="-10" dirty="0"/>
              <a:t>Testing</a:t>
            </a:r>
            <a:r>
              <a:rPr spc="-110" dirty="0"/>
              <a:t> </a:t>
            </a:r>
            <a:r>
              <a:rPr spc="-20" dirty="0"/>
              <a:t>Tools</a:t>
            </a:r>
            <a:r>
              <a:rPr spc="-10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283" y="1335404"/>
            <a:ext cx="10504805" cy="13976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Considerations</a:t>
            </a:r>
            <a:r>
              <a:rPr sz="1500" b="1" spc="-6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of</a:t>
            </a:r>
            <a:r>
              <a:rPr sz="1500" b="1" spc="-4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5C84"/>
                </a:solidFill>
                <a:latin typeface="Arial"/>
                <a:cs typeface="Arial"/>
              </a:rPr>
              <a:t>Technology</a:t>
            </a:r>
            <a:r>
              <a:rPr sz="1500" b="1" spc="-4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framework</a:t>
            </a:r>
            <a:r>
              <a:rPr sz="1500" b="1" spc="-6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in</a:t>
            </a:r>
            <a:r>
              <a:rPr sz="1500" b="1" spc="-6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picking</a:t>
            </a:r>
            <a:r>
              <a:rPr sz="1500" b="1" spc="-70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a</a:t>
            </a:r>
            <a:r>
              <a:rPr sz="1500" b="1" spc="-4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5C84"/>
                </a:solidFill>
                <a:latin typeface="Arial"/>
                <a:cs typeface="Arial"/>
              </a:rPr>
              <a:t>suitable</a:t>
            </a:r>
            <a:r>
              <a:rPr sz="1500" b="1" spc="-5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5C84"/>
                </a:solidFill>
                <a:latin typeface="Arial"/>
                <a:cs typeface="Arial"/>
              </a:rPr>
              <a:t>Test</a:t>
            </a:r>
            <a:r>
              <a:rPr sz="1500" b="1" spc="-35" dirty="0">
                <a:solidFill>
                  <a:srgbClr val="005C8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5C84"/>
                </a:solidFill>
                <a:latin typeface="Arial"/>
                <a:cs typeface="Arial"/>
              </a:rPr>
              <a:t>Tool?</a:t>
            </a:r>
            <a:endParaRPr sz="1500">
              <a:latin typeface="Arial"/>
              <a:cs typeface="Arial"/>
            </a:endParaRPr>
          </a:p>
          <a:p>
            <a:pPr marL="12700" marR="5080" indent="114935">
              <a:lnSpc>
                <a:spcPct val="150000"/>
              </a:lnSpc>
              <a:buChar char="•"/>
              <a:tabLst>
                <a:tab pos="12763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There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are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no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perfect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tools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Each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group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has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different</a:t>
            </a:r>
            <a:r>
              <a:rPr sz="1500" spc="-6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requirements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Virtually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all</a:t>
            </a:r>
            <a:r>
              <a:rPr sz="1500" spc="-9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API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test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tools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work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well</a:t>
            </a:r>
            <a:r>
              <a:rPr sz="1500" spc="-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and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are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great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options,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depending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on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your</a:t>
            </a:r>
            <a:r>
              <a:rPr sz="1500" spc="-4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team's</a:t>
            </a:r>
            <a:r>
              <a:rPr sz="1500" spc="-6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05C84"/>
                </a:solidFill>
                <a:latin typeface="Arial MT"/>
                <a:cs typeface="Arial MT"/>
              </a:rPr>
              <a:t>needs</a:t>
            </a:r>
            <a:endParaRPr sz="1500">
              <a:latin typeface="Arial MT"/>
              <a:cs typeface="Arial MT"/>
            </a:endParaRPr>
          </a:p>
          <a:p>
            <a:pPr marL="130175" indent="-117475">
              <a:lnSpc>
                <a:spcPct val="100000"/>
              </a:lnSpc>
              <a:spcBef>
                <a:spcPts val="900"/>
              </a:spcBef>
              <a:buChar char="•"/>
              <a:tabLst>
                <a:tab pos="130175" algn="l"/>
              </a:tabLst>
            </a:pP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Some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of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the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factors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like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Budget,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Resources</a:t>
            </a:r>
            <a:r>
              <a:rPr sz="1500" spc="-5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with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knowledge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also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plays</a:t>
            </a:r>
            <a:r>
              <a:rPr sz="1500" spc="-30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vital</a:t>
            </a:r>
            <a:r>
              <a:rPr sz="1500" spc="-1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role</a:t>
            </a:r>
            <a:r>
              <a:rPr sz="1500" spc="-4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in</a:t>
            </a:r>
            <a:r>
              <a:rPr sz="1500" spc="-2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selecting</a:t>
            </a:r>
            <a:r>
              <a:rPr sz="1500" spc="-5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5C84"/>
                </a:solidFill>
                <a:latin typeface="Arial MT"/>
                <a:cs typeface="Arial MT"/>
              </a:rPr>
              <a:t>a</a:t>
            </a:r>
            <a:r>
              <a:rPr sz="1500" spc="-35" dirty="0">
                <a:solidFill>
                  <a:srgbClr val="005C84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05C84"/>
                </a:solidFill>
                <a:latin typeface="Arial MT"/>
                <a:cs typeface="Arial MT"/>
              </a:rPr>
              <a:t>tool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1841" y="3429000"/>
            <a:ext cx="6818586" cy="19713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1432</Words>
  <Application>Microsoft Office PowerPoint</Application>
  <PresentationFormat>Widescreen</PresentationFormat>
  <Paragraphs>153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Arial MT</vt:lpstr>
      <vt:lpstr>Office Theme</vt:lpstr>
      <vt:lpstr>API Testing</vt:lpstr>
      <vt:lpstr>Application Programming Interface</vt:lpstr>
      <vt:lpstr>Web Services</vt:lpstr>
      <vt:lpstr>SOAP Web Service - Simple Object Access Protocol</vt:lpstr>
      <vt:lpstr>SOAP Web Service Sample App</vt:lpstr>
      <vt:lpstr>What is Rest API</vt:lpstr>
      <vt:lpstr>Anatomy of a REST API</vt:lpstr>
      <vt:lpstr>REST Web Service Resource</vt:lpstr>
      <vt:lpstr>Resource Naming</vt:lpstr>
      <vt:lpstr>SOAP vs REST</vt:lpstr>
      <vt:lpstr>What is API Testing?</vt:lpstr>
      <vt:lpstr>Why API Testing?</vt:lpstr>
      <vt:lpstr>API as a Contract - First, check the Specification</vt:lpstr>
      <vt:lpstr>API Testing What to Test?</vt:lpstr>
      <vt:lpstr>Stages Perform API Testing</vt:lpstr>
      <vt:lpstr>Types of API Testing</vt:lpstr>
      <vt:lpstr>API Functional Test Conditions</vt:lpstr>
      <vt:lpstr>API Functional Test Conditions</vt:lpstr>
      <vt:lpstr>API Functional Test Conditions</vt:lpstr>
      <vt:lpstr>Compare UI Testing &amp; API Testing</vt:lpstr>
      <vt:lpstr>Challenges of API Testing</vt:lpstr>
      <vt:lpstr>API Testing Tools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Prabhat Chandra</cp:lastModifiedBy>
  <cp:revision>2</cp:revision>
  <dcterms:created xsi:type="dcterms:W3CDTF">2026-06-24T05:25:47Z</dcterms:created>
  <dcterms:modified xsi:type="dcterms:W3CDTF">2026-06-24T05:34:50Z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2024-05-29T00:00:00Z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2026-06-24T00:00:00Z</vt:filetime>
  </property>
  <property fmtid="{D5CDD505-2E9C-101B-9397-08002B2CF9AE}" pid="6" name="MSIP_Label_840e60c6-cef6-4cc0-a98d-364c7249d74b_Enabled">
    <vt:lpwstr>true</vt:lpwstr>
  </property>
  <property fmtid="{D5CDD505-2E9C-101B-9397-08002B2CF9AE}" pid="7" name="MSIP_Label_840e60c6-cef6-4cc0-a98d-364c7249d74b_Method">
    <vt:lpwstr>Privileged</vt:lpwstr>
  </property>
  <property fmtid="{D5CDD505-2E9C-101B-9397-08002B2CF9AE}" pid="8" name="MSIP_Label_840e60c6-cef6-4cc0-a98d-364c7249d74b_SiteId">
    <vt:lpwstr>b44900f1-2def-4c3b-9ec6-9020d604e19e</vt:lpwstr>
  </property>
  <property fmtid="{D5CDD505-2E9C-101B-9397-08002B2CF9AE}" pid="9" name="Producer">
    <vt:lpwstr>Microsoft® PowerPoint® for Microsoft 365</vt:lpwstr>
  </property>
</Properties>
</file>