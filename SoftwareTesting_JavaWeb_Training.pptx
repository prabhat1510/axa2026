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Foundation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&amp; Web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Trainer-Led Learning Guide with Examples &amp; Practice Questions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Introduction to Programming  •  Java Basics  •  OOP  •  Collections  •  Exception Handling  •  HTML/CSS  •  JavaScript  •  DOM  •  DevTools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38912" y="9601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438912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014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Programming Concepts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73352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764792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8196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Basics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78024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2569464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26243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Collections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82696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3374136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34290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(OOP)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087368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4178808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42336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28032" y="960120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101498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Basics for Testers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673352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28032" y="176479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13248" y="18196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Basics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478024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2569464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4828032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262432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Basics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3282696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3374136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13248" y="34290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Developer Tools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4087368"/>
            <a:ext cx="420624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28032" y="4178808"/>
            <a:ext cx="502920" cy="5029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4178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13248" y="42336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&amp; Module Test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Programming Concepts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• Variables • Operators • Control Structures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Variables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7724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50976"/>
            <a:ext cx="3931920" cy="1737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13816"/>
            <a:ext cx="3712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Data Types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79576"/>
            <a:ext cx="3712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25;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salary = 45000.50;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isActive = true;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grade = 'A';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byte b = 127;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bigNum = 9876543210L;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777240"/>
            <a:ext cx="4480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777240"/>
            <a:ext cx="448056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389120" y="950976"/>
            <a:ext cx="4480560" cy="1737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498848" y="813816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Non-Primitive / Reference Types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98848" y="1179576"/>
            <a:ext cx="426110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name = "Alice";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scores = {90, 85, 78};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new ArrayList&lt;&gt;();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obj = new Object();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8595360" cy="2103120"/>
          </a:xfrm>
          <a:prstGeom prst="roundRect">
            <a:avLst>
              <a:gd name="adj" fmla="val 3478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077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Key Concept: Variable Declaration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18688"/>
            <a:ext cx="822960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dataType  variableName = value;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x = 10;   declares integer x with value 10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must be declared before use in Java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is STRONGLY typed – you cannot assign a String to an int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 use:  final double PI = 3.14159;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772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50976"/>
            <a:ext cx="2011680" cy="1737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138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79576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-  *  /  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+ 3 = 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10 % 3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3 = 2 (int)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8.0 / 3 = 2.666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7772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7772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2423160" y="950976"/>
            <a:ext cx="2011680" cy="1737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532888" y="8138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1179576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&gt;  &lt;  &gt;=  &lt;=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5  →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!= 4  →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&gt; 5   →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&gt;= 2  → true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7772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950976"/>
            <a:ext cx="2011680" cy="1737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8138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81728" y="1179576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  ||  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&amp;&amp; false →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|| false →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!true →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(a&gt;0 &amp;&amp; b&gt;0)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777240"/>
            <a:ext cx="2011680" cy="2377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77724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EA580C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950976"/>
            <a:ext cx="2011680" cy="173736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6830568" y="813816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30568" y="1179576"/>
            <a:ext cx="17922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 +=  -=  *=  /=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+= 5;  // a=15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-= 3;  // a=12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*= 2;  // a=24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10128"/>
            <a:ext cx="8595360" cy="1627632"/>
          </a:xfrm>
          <a:prstGeom prst="roundRect">
            <a:avLst>
              <a:gd name="adj" fmla="val 449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310128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447288"/>
            <a:ext cx="85953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32841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Example: All Operators Together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02336" y="3621024"/>
            <a:ext cx="833932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10, b = 3;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+ b);   // 13  (addition)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% b);   // 1   (remainder)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&gt; b);   // true (relational)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 == 10 &amp;&amp; b &lt; 5);  // true (logical AND)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16052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16052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if-else Statement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044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if-else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 = 75;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&gt;= 90)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System.out.println("A Grade");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(score &gt;= 70)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System.out.println("B Grade");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System.out.println("Below B");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switch Statement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78992"/>
            <a:ext cx="39502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switch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day = 3;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(day)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1: System.out.println("Mon");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2: System.out.println("Tue");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 3: System.out.println("Wed"); break;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System.out.println("Other");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4160520" cy="1993392"/>
          </a:xfrm>
          <a:prstGeom prst="roundRect">
            <a:avLst>
              <a:gd name="adj" fmla="val 367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99232"/>
            <a:ext cx="416052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136392"/>
            <a:ext cx="416052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17520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Loops: for &amp; while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3310128"/>
            <a:ext cx="39044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&lt;= 5;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System.out.println("Count: " + i);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 =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 &lt;= 3)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n++;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999232"/>
            <a:ext cx="4206240" cy="1993392"/>
          </a:xfrm>
          <a:prstGeom prst="roundRect">
            <a:avLst>
              <a:gd name="adj" fmla="val 367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999232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136392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0175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do-while &amp; break/continue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91456" y="3310128"/>
            <a:ext cx="395020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do-while (runs at least once)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System.out.println("Value: " + x);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x++;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(x &lt;= 3);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 &amp; continue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i=0;i&lt;10;i++)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if(i==5) break; // stops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Syntax • Basic Constructs • IDE Setup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Program Structure &amp; IDE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93776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93776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9377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First Java Program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468172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File: HelloWorld.java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HelloWorld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main() is the entry point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 to console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System.out.println("Hello, World!");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Variables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name = "Alice";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age = 30;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String concatenation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System.out.println("Name: " +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+ ", Age: " + 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768096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0" y="86868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Setup (IntelliJ IDEA)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243584"/>
            <a:ext cx="329184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Download JDK 17+ from oracle.com
</a:t>
            </a:r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Install IntelliJ IDEA Community
</a:t>
            </a:r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New Project → Java → SDK
</a:t>
            </a:r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Create src/HelloWorld.java
</a:t>
            </a:r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Run with Shift+F10
</a:t>
            </a:r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VS Code Alternative: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Extension Pack for Java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4005072"/>
            <a:ext cx="8595360" cy="96012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041648"/>
            <a:ext cx="82296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Java Naming Conventions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PascalCase  (MyClass, BankAccount)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Methods: camelCase  (firstName, calculateTotal)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Constants: UPPER_SNAKE_CASE  (MAX_SIZE, PI)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Input &amp; Simple Validation Logic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8595360" cy="3200400"/>
          </a:xfrm>
          <a:prstGeom prst="roundRect">
            <a:avLst>
              <a:gd name="adj" fmla="val 228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85953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Hands-On Activity: Write Simple Java Validation Logic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833932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java.util.Scanner;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ValidationDemo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Scanner sc = new Scanner(System.in);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System.out.print("Enter your age: 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age = sc.nextInt();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Validation Logic (Activity: Write Simple Java Validation)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(age &lt; 0 || age &gt; 150)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System.out.println("❌ Invalid age! Must be between 0 and 150.");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if (age &lt; 18)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System.out.println("✅ Age " + age + " – Minor (below 18)");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System.out.println("✅ Age " + age + " – Adult");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sc.close();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4114800"/>
            <a:ext cx="8595360" cy="868680"/>
          </a:xfrm>
          <a:prstGeom prst="roundRect">
            <a:avLst>
              <a:gd name="adj" fmla="val 7368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Practice Questions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Write a program that checks if a username is between 5–15 characters long.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Validate that a password has at least 8 characters and contains a digit.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Collections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 • ArrayList • HashMap • Set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– Basics &amp; Operations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Arrays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Declare &amp; Initialize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nums = {10, 20, 30, 40, 50};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fruits = new String[3];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fruits[0] = "Apple";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fruits[1] = "Banana";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fruits[2] = "Mango";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Access by index (0-based)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System.out.println(nums[0]);  // 10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System.out.println(nums[4]);  // 50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Length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System.out.println(nums.length);  // 5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Iterate with for-each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: nums)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System.out.print(n + " 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10 20 30 40 50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2D Array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matrix = {{1,2},{3,4},{5,6}};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System.out.println(matrix[1][0]);  // 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4160520"/>
          </a:xfrm>
          <a:prstGeom prst="roundRect">
            <a:avLst>
              <a:gd name="adj" fmla="val 175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Array Operations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78992"/>
            <a:ext cx="3950208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java.util.Arrays;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Sort array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arr = {5, 1, 8, 2};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Arrays.sort(arr);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 is now {1, 2, 5, 8}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Search (binary search - array must be sorted)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idx = Arrays.binarySearch(arr, 5);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System.out.println(idx);  //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zeros = new int[5];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Arrays.fill(zeros, 0);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copy = Arrays.copyOf(arr, arr.length);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Convert to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System.out.println(Arrays.toString(arr));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[1, 2, 5, 8]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ArrayIndexOutOfBoundsException!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arr[10]; ← throws exception if out of range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Collections – ArrayList &amp; HashMap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ArrayList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java.util.ArrayList;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ArrayList&lt;String&gt; names = new ArrayList&lt;&gt;();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names.add("Alice");   // add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names.add("Bob");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names.add("Charlie");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System.out.println(names.get(0)); // Alice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names.remove("Bob");   // remove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names.set(0, "Anna");  // update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System.out.println(names.size()); //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(String n : names)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System.out.println(n);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HashMap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78992"/>
            <a:ext cx="395020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java.util.HashMap;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HashMap&lt;String,Integer&gt; scores = new HashMap&lt;&gt;();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scores.put("Alice", 95);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scores.put("Bob",   87);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scores.put("Carol", 92);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System.out.println(scores.get("Alice")); // 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scores.remove("Bob");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System.out.println(scores.containsKey("Bob")); // false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(String k : scores.keySet())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System.out.println(k + " → " + scores.get(k));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200400"/>
            <a:ext cx="8595360" cy="1719072"/>
          </a:xfrm>
          <a:prstGeom prst="roundRect">
            <a:avLst>
              <a:gd name="adj" fmla="val 4255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00400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337560"/>
            <a:ext cx="85953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218688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HashSet, LinkedList &amp; Collections Utility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3511296"/>
            <a:ext cx="833932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java.util.*;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HashSet – no duplicates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HashSet&lt;String&gt; set = new HashSet&lt;&gt;();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set.add("Java"); set.add("Python"); set.add("Java"); // duplicate ignored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System.out.println(set.size()); //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LinkedList – ordered, fast insert/delete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LinkedList&lt;Integer&gt; ll = new LinkedList&lt;&gt;();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ll.add(1); ll.add(2); ll.addFirst(0); // [0, 1, 2]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Collections utility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ArrayList&lt;Integer&gt; list = new ArrayList&lt;&gt;(Arrays.asList(5,1,8,3));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Collections.sort(list);   // [1, 3, 5, 8]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Collections.reverse(list); // [8, 5, 3, 1]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(OOP)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• Objects • Inheritance • Polymorphism • Encapsulation • Abstraction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 &amp; Constructors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8595360" cy="4169664"/>
          </a:xfrm>
          <a:prstGeom prst="roundRect">
            <a:avLst>
              <a:gd name="adj" fmla="val 175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85953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Real-World Example: BankAccount Class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833932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Define a Class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BankAccount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Fields (state)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owner;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double balance;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Constructor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BankAccount(String owner, double balance)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this.owner = owner;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this.balance = balance;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Methods (behaviour)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deposit(double amount)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balance += amount;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System.out.println("Deposited: " + amount + " | New Balance: " + balance);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withdraw(double amount)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(amount &gt; balance) System.out.println("Insufficient funds!");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{ balance -= amount; System.out.println("Withdrawn: " + amount);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double getBalance() { return balance;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Create Objects (Instances)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BankAccount acc1 = new BankAccount("Alice", 1000.0);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acc1.deposit(500.0);    // Deposited: 500.0 | New Balance: 1500.0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acc1.withdraw(200.0);   // Withdrawn: 200.0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System.out.println(acc1.getBalance()); // 1300.0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&amp; Polymorphism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4169664"/>
          </a:xfrm>
          <a:prstGeom prst="roundRect">
            <a:avLst>
              <a:gd name="adj" fmla="val 175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Inheritance Example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(Superclass)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Animal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name;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Animal(String name) { this.name = name;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sound()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System.out.println("Some sound");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(Subclass) – Inheritance with 'extends'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Dog extends Animal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Dog(String name) { super(name);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Override – Polymorphism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sound()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System.out.println(name + " says: Woof!");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Cat extends Animal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Cat(String name) { super(name);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sound()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System.out.println(name + " says: Meow!");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4169664"/>
          </a:xfrm>
          <a:prstGeom prst="roundRect">
            <a:avLst>
              <a:gd name="adj" fmla="val 175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Polymorphism in 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78992"/>
            <a:ext cx="395020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Polymorphism in 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a1 = new Dog("Rex");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a2 = new Cat("Whiskers");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 a3 = new Animal("Generic");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a1.sound(); // Rex says: Woof!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a2.sound(); // Whiskers says: Meow!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a3.sound(); // Some sound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 of Animals – Polymorphic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Animal[] zoo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Dog("Buddy"),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Cat("Kitty"),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Dog("Max")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(Animal a : zoo)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a.sound(); // Each calls its OWN method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Buddy says: Woof!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Kitty says: Meow!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Max says: Woof!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instanceof check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(a1 instanceof Dog)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System.out.println("a1 is a Dog!");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&amp; Abstraction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Encapsulation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Encapsulation: private fields + public getters/setters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Student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name;  // hidden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int age;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Getter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String getName() { return name;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Setter with validation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setAge(int age)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(age &gt; 0 &amp;&amp; age &lt; 120)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this.age = 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System.out.println("Invalid age!");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int getAge() { return age;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s = new Student();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s.setAge(22);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System.out.println(s.getAge()); // 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s.age = -5; ← COMPILE ERROR – private!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Abstraction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78992"/>
            <a:ext cx="395020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Abstraction using abstract class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abstract class Shape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abstract double area(); // must override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void describe()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System.out.println("Area: " + area());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Circle extends Shape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Circle(double r) { this.r = r;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area() { return Math.PI * r * r;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Rectangle extends Shape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w, h;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Rectangle(double w, double h) { this.w=w; this.h=h;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double area() { return w * h;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 s = new Circle(5);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s.describe(); // Area: 78.539...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730752"/>
            <a:ext cx="8595360" cy="1188720"/>
          </a:xfrm>
          <a:prstGeom prst="roundRect">
            <a:avLst>
              <a:gd name="adj" fmla="val 5385"/>
            </a:avLst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8039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Practice Questions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Create a class Car with brand, speed. Add method accelerate() that increases speed by 10. Create two objects.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Create abstract class Vehicle with abstract method fuelType(). Implement in ElectricCar and PetrolCar.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try-catch-finally • Checked vs Unchecked • Custom Exceptions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in Java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try-catch-finally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try-catch-finally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int[] arr = new int[5];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arr[10] = 99; // throws exception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result = 10 / 0;   // ArithmeticException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(ArrayIndexOutOfBoundsException 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System.out.println("Array error: " + e.getMessage());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(ArithmeticException 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System.out.println("Math error: " + e.getMessage());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System.out.println("General: " + e.getMessage());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finally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System.out.println("Always runs – cleanup here!");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Custom Exception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78992"/>
            <a:ext cx="395020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 Exception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AgeException extends Exception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AgeException(String message)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super(message);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Using 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Validator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checkAge(int age)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throws AgeException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(age &lt; 18)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AgeException(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"Age " + age + " is below 18!");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System.out.println("Age valid: " + age);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throws AgeException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checkAge(15); // Throws AgeException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273552"/>
            <a:ext cx="8595360" cy="1664208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3467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Exception Types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675888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12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NullPointerException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97480" y="3712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a null object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675888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7124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ArrayIndexOutOfBounds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371246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array index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61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NumberFormatException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97480" y="42611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non-number string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224528"/>
            <a:ext cx="4114800" cy="438912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2611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IOException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426110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File/network error (checked)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 Basics for Testers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• Selectors • Forms • Identifying Web Elements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 &amp; Key Elements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4169664"/>
          </a:xfrm>
          <a:prstGeom prst="roundRect">
            <a:avLst>
              <a:gd name="adj" fmla="val 175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HTML Structure – Login Page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lang="en"&gt;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&lt;title&gt;Login Page&lt;/title&gt;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&lt;link rel="stylesheet" href="style.css"&gt;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&lt;h1&gt;Welcome&lt;/h1&gt;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&lt;p&gt;Please login below&lt;/p&gt;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Form for testers to identify elements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 id="loginForm"&gt;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Text input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 for="username"&gt;Username:&lt;/label&gt;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type="text" id="username"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name="username"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placeholder="Enter username"&gt;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Password input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type="password" id="password"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placeholder="Enter password"&gt;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Submit button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type="submit" id="loginBtn"&gt;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Login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Message area --&gt;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 id="message"&gt;&lt;/p&gt;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&lt;/form&gt;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68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Identifying Web Elements (Activity)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61872"/>
            <a:ext cx="400507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791456" y="131673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316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36208" y="1316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id='loginBtn'&gt;Login&lt;/button&gt;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709928"/>
            <a:ext cx="400507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4791456" y="1764792"/>
            <a:ext cx="274320" cy="2743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764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36208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type='text' id='username'&gt;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2157984"/>
            <a:ext cx="400507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91456" y="221284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36208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href='/signup'&gt;Sign Up&lt;/a&gt;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2606040"/>
            <a:ext cx="400507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/>
        </p:spPr>
      </p:sp>
      <p:sp>
        <p:nvSpPr>
          <p:cNvPr id="24" name="Shape 22"/>
          <p:cNvSpPr/>
          <p:nvPr/>
        </p:nvSpPr>
        <p:spPr>
          <a:xfrm>
            <a:off x="4791456" y="266090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6609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36208" y="2660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id='message'&gt;Error text&lt;/p&gt;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54880" y="3054096"/>
            <a:ext cx="400507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/>
        </p:spPr>
      </p:sp>
      <p:sp>
        <p:nvSpPr>
          <p:cNvPr id="28" name="Shape 26"/>
          <p:cNvSpPr/>
          <p:nvPr/>
        </p:nvSpPr>
        <p:spPr>
          <a:xfrm>
            <a:off x="4791456" y="310896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0" y="3108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36208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 id='country'&gt;...&lt;/select&gt;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3502152"/>
            <a:ext cx="400507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/>
        </p:spPr>
      </p:sp>
      <p:sp>
        <p:nvSpPr>
          <p:cNvPr id="32" name="Shape 30"/>
          <p:cNvSpPr/>
          <p:nvPr/>
        </p:nvSpPr>
        <p:spPr>
          <a:xfrm>
            <a:off x="4791456" y="355701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355701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Checkbox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36208" y="35570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type='checkbox' id='rem'&gt;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950208"/>
            <a:ext cx="4005072" cy="384048"/>
          </a:xfrm>
          <a:prstGeom prst="roundRect">
            <a:avLst>
              <a:gd name="adj" fmla="val 11905"/>
            </a:avLst>
          </a:prstGeom>
          <a:solidFill>
            <a:srgbClr val="F1F5F9"/>
          </a:solidFill>
          <a:ln/>
        </p:spPr>
      </p:sp>
      <p:sp>
        <p:nvSpPr>
          <p:cNvPr id="36" name="Shape 34"/>
          <p:cNvSpPr/>
          <p:nvPr/>
        </p:nvSpPr>
        <p:spPr>
          <a:xfrm>
            <a:off x="4791456" y="4005072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4005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36208" y="4005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type='radio' name='role'&gt;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Basics for Testers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4169664"/>
          </a:xfrm>
          <a:prstGeom prst="roundRect">
            <a:avLst>
              <a:gd name="adj" fmla="val 175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CSS Selectors &amp; Styling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*/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Element Selector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#f5f5f5;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ID Selector (#) – unique on page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#loginBtn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#2563EB;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white;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10px 20px;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none;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5px;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cursor: pointer;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Class Selector (.) – reusable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.error-msg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bold;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.success-msg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green;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Descendant Selector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input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 #ccc;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8px;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100%;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margin-bottom: 10px;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Hover state */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#loginBtn:hover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#1d4ed8;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87782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 Quick Reference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36592" y="1280160"/>
            <a:ext cx="4041648" cy="393192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456" y="1335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42432" y="1335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 }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242048" y="1335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all &lt;p&gt; tags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36592" y="1737360"/>
            <a:ext cx="4041648" cy="393192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791456" y="1792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42432" y="1792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#login { }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42048" y="1792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element by ID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36592" y="2194560"/>
            <a:ext cx="4041648" cy="393192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4791456" y="2249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42432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 { }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242048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with class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36592" y="2651760"/>
            <a:ext cx="4041648" cy="393192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791456" y="27066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42432" y="2706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}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242048" y="2706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(universal)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36592" y="3108960"/>
            <a:ext cx="4041648" cy="393192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4791456" y="31638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42432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p { }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242048" y="31638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inside div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36592" y="3566160"/>
            <a:ext cx="4041648" cy="393192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3621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&gt; 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42432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 &gt; li { }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242048" y="3621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child only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36592" y="4023360"/>
            <a:ext cx="4041648" cy="393192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4791456" y="40782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42432" y="4078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{ }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242048" y="40782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over state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36592" y="4480560"/>
            <a:ext cx="4041648" cy="393192"/>
          </a:xfrm>
          <a:prstGeom prst="roundRect">
            <a:avLst>
              <a:gd name="adj" fmla="val 11628"/>
            </a:avLst>
          </a:prstGeom>
          <a:solidFill>
            <a:srgbClr val="F1F5F9"/>
          </a:solidFill>
          <a:ln/>
        </p:spPr>
      </p:sp>
      <p:sp>
        <p:nvSpPr>
          <p:cNvPr id="40" name="Text 38"/>
          <p:cNvSpPr/>
          <p:nvPr/>
        </p:nvSpPr>
        <p:spPr>
          <a:xfrm>
            <a:off x="4791456" y="45354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42432" y="4535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input:focus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242048" y="4535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is focused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Basics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• Functions • Events • Console Errors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Fundamentals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Variables &amp; Types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Variables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oldWay = "avoid this";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username = "Alice"; // block-scoped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PI = 3.14;       // constant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Types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 = 42;       // number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text = "Hello"; //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flag = true;    // boolean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nothing = null; // null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undef;          // undefined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 check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num);   // number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text);  // string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2194560"/>
          </a:xfrm>
          <a:prstGeom prst="roundRect">
            <a:avLst>
              <a:gd name="adj" fmla="val 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Functions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78992"/>
            <a:ext cx="39502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Function Declaration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"Hello, " + name + "!";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console.log(greet("Bob")); // Hello, Bob!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Function (ES6)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 b) =&gt; a + 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console.log(add(5, 3));  // 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Template Literals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city = "Bengaluru";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console.log(`Welcome to ${city}`);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Welcome to Bengaluru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Parameters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welcome = (name="Guest") =&gt;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`Hi, ${name}`;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console.log(welcome());  // Hi, Guest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090672"/>
            <a:ext cx="4206240" cy="1883664"/>
          </a:xfrm>
          <a:prstGeom prst="roundRect">
            <a:avLst>
              <a:gd name="adj" fmla="val 38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90672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227832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089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Arrays &amp; Methods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3401568"/>
            <a:ext cx="3950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fruits = ["Apple","Mango","Banana"];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console.log(fruits[1]);       // Mango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console.log(fruits.length);   // 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fruits.push("Orange");        // add to end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fruits.pop();                 // remove last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map, filter, find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[1,2,3,4,5];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doubled = nums.map(n =&gt; n*2);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[2,4,6,8,10]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evens = nums.filter(n =&gt; n%2===0);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[2,4]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090672"/>
            <a:ext cx="4206240" cy="1883664"/>
          </a:xfrm>
          <a:prstGeom prst="roundRect">
            <a:avLst>
              <a:gd name="adj" fmla="val 38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090672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3227832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10896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Objects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91456" y="3401568"/>
            <a:ext cx="39502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"Alice",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age: 28,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greet: function()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`Hi, I am ${this.name}`;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console.log(user.name);      // Alice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console.log(user["age"]);    // 28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console.log(user.greet());   // Hi, I am Alice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Destructuring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{name, age} = user;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console.log(name, age);  // Alice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Console Errors (Activity)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85953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1463040" cy="969264"/>
          </a:xfrm>
          <a:prstGeom prst="roundRect">
            <a:avLst>
              <a:gd name="adj" fmla="val 6604"/>
            </a:avLst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768096"/>
            <a:ext cx="914400" cy="9692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841248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ReferenceError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82296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console.log(xyz);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0972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Console: xyz is not defined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371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Variable used before declaration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847088"/>
            <a:ext cx="85953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47088"/>
            <a:ext cx="1463040" cy="969264"/>
          </a:xfrm>
          <a:prstGeom prst="roundRect">
            <a:avLst>
              <a:gd name="adj" fmla="val 6604"/>
            </a:avLst>
          </a:prstGeom>
          <a:solidFill>
            <a:srgbClr val="EA580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847088"/>
            <a:ext cx="914400" cy="9692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" y="19202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19019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null.length;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1762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Console: Cannot read properties of null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45059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Calling method on null/undefined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85953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1463040" cy="969264"/>
          </a:xfrm>
          <a:prstGeom prst="roundRect">
            <a:avLst>
              <a:gd name="adj" fmla="val 6604"/>
            </a:avLst>
          </a:prstGeom>
          <a:solidFill>
            <a:srgbClr val="7C3AE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926080"/>
            <a:ext cx="914400" cy="9692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292608" y="2999232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298094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let x = {;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325526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Console: Unexpected token ';'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5295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Invalid JavaScript syntax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859536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05072"/>
            <a:ext cx="1463040" cy="969264"/>
          </a:xfrm>
          <a:prstGeom prst="roundRect">
            <a:avLst>
              <a:gd name="adj" fmla="val 6604"/>
            </a:avLst>
          </a:prstGeom>
          <a:solidFill>
            <a:srgbClr val="D97706"/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" y="4005072"/>
            <a:ext cx="914400" cy="9692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292608" y="4078224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RangeError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405993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Code: new Array(-1);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43342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Console: Invalid array length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460857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Value out of allowed range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5102352"/>
            <a:ext cx="8595360" cy="512064"/>
          </a:xfrm>
          <a:prstGeom prst="roundRect">
            <a:avLst>
              <a:gd name="adj" fmla="val 10714"/>
            </a:avLst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1572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Activity: Open browser → F12 → Console tab → Type these lines one by one → Observe the error messages!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Basics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 Model • Selectors • Events • Manipulation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– Document Object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DOM Selectors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" y="1078992"/>
            <a:ext cx="39502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Selecting Elements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document.getElementById("loginBtn");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document.querySelector(".error-msg");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document.querySelectorAll("input");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document.getElementsByClassName("card");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document.getElementsByTagName("p");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 &amp; Set Content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msg = document.getElementById("message");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console.log(msg.innerText);     // get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msg.innerText = "Login failed!"; // set text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msg.innerHTML = "&lt;b&gt;Error&lt;/b&gt;"; // with HTML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05256"/>
            <a:ext cx="420624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78638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DOM Manipulation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91456" y="1078992"/>
            <a:ext cx="39502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 Styles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btn = document.getElementById("loginBtn");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btn.style.backgroundColor = "red";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btn.style.display = "none";  // hide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btn.style.display = "block"; // show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Add/Remove Classes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btn.classList.add("active");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btn.classList.remove("disabled");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btn.classList.toggle("highlight");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Attributes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inp = document.querySelector("#username");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console.log(inp.value);       // current value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inp.setAttribute("disabled", true);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inp.removeAttribute("disabled");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999232"/>
            <a:ext cx="8595360" cy="1938528"/>
          </a:xfrm>
          <a:prstGeom prst="roundRect">
            <a:avLst>
              <a:gd name="adj" fmla="val 377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99232"/>
            <a:ext cx="8595360" cy="274320"/>
          </a:xfrm>
          <a:prstGeom prst="roundRect">
            <a:avLst>
              <a:gd name="adj" fmla="val 26667"/>
            </a:avLst>
          </a:prstGeom>
          <a:solidFill>
            <a:srgbClr val="0891B2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3136392"/>
            <a:ext cx="85953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0175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DOM Events – Full Login Validation Example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2336" y="3310128"/>
            <a:ext cx="833932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 Handling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document.getElementById("loginBtn").addEventListener("click", function()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document.getElementById("username").value;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pass = document.getElementById("password").value;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msg  = document.getElementById("message");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(user === "" || pass === "")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msg.innerText = "❌ Fields cannot be empty!";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msg.style.color = "red";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msg.innerText = "✅ Login Successful for " + user;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msg.style.color = "green";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Other events: input, change, keydown, mouseover, submit, focus, blur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09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Developer Tools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Tab • Network Tab • Inspecting Elements • API Calls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DevTools – Console &amp; Network Tab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41832"/>
            <a:ext cx="4206240" cy="17373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04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Console Tab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8872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open: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 or  Right-click → Inspect → Console
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JavaScript directly: document.title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console.log() output from page scripts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JavaScript errors with file + line number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selectors: document.querySelector('#loginBtn')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Levels: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console.log()   – general info (grey)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console.warn()  – warnings (yellow)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console.error() – errors (red)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website → F12 → Console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document.title → press Enter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document.body.style.background='pink'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0891B2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41832"/>
            <a:ext cx="4206240" cy="17373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8046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 Tab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88720"/>
            <a:ext cx="3968496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API Calls (Activity):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→ Network tab → Reload page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HTTP request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by: XHR/Fetch (API calls), JS, CSS, Img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to Check: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   – URL of the request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– GET, POST, PUT, DELETE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– 200 OK, 404 Not Found, 500 Error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  – xhr, fetch, document, script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   – response payload size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  – how long request took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to see: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 – request/response headers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 – request body (POST data)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– what the server returned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 – formatted JSON response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65760"/>
            <a:ext cx="1005840" cy="10058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&amp; Module Test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Recap • Practice Questions • Mock Test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– Key Concepts Summary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68096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23544"/>
            <a:ext cx="4206240" cy="1554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0467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Basics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133856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types, variables, operators, loops, methods, Scanner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68096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7C3AED"/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923544"/>
            <a:ext cx="4206240" cy="1554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773168" y="804672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73168" y="1133856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object, constructor, inheritance (extends), polymorphism (@Override), encapsulation (private+getters), abstraction (abstract)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847088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47088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16A3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002536"/>
            <a:ext cx="4206240" cy="1554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1883664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212848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(fixed size), ArrayList (dynamic), HashMap (key-value), HashSet (no duplicates)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847088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847088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2002536"/>
            <a:ext cx="4206240" cy="1554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1883664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2212848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try-catch-finally, throw, throws, custom exceptions extend Exception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26080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EA580C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081528"/>
            <a:ext cx="4206240" cy="15544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96265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" y="329184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(input,button,select,p,a), ID selector #, class selector ., element selector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926080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26080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D97706"/>
          </a:solidFill>
          <a:ln/>
        </p:spPr>
      </p:sp>
      <p:sp>
        <p:nvSpPr>
          <p:cNvPr id="31" name="Shape 29"/>
          <p:cNvSpPr/>
          <p:nvPr/>
        </p:nvSpPr>
        <p:spPr>
          <a:xfrm>
            <a:off x="4663440" y="3081528"/>
            <a:ext cx="4206240" cy="1554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2962656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73168" y="3291840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let/const, functions, arrow functions, template literals, array methods (map,filter)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005072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4005072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0891B2"/>
          </a:solidFill>
          <a:ln/>
        </p:spPr>
      </p:sp>
      <p:sp>
        <p:nvSpPr>
          <p:cNvPr id="36" name="Shape 34"/>
          <p:cNvSpPr/>
          <p:nvPr/>
        </p:nvSpPr>
        <p:spPr>
          <a:xfrm>
            <a:off x="274320" y="4160520"/>
            <a:ext cx="4206240" cy="1554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404164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84048" y="4370832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getElementById, querySelector, addEventListener, innerText, classList, value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005072"/>
            <a:ext cx="4206240" cy="969264"/>
          </a:xfrm>
          <a:prstGeom prst="roundRect">
            <a:avLst>
              <a:gd name="adj" fmla="val 6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4005072"/>
            <a:ext cx="4206240" cy="310896"/>
          </a:xfrm>
          <a:prstGeom prst="roundRect">
            <a:avLst>
              <a:gd name="adj" fmla="val 20588"/>
            </a:avLst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4663440" y="4160520"/>
            <a:ext cx="4206240" cy="1554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4041648"/>
            <a:ext cx="3968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4370832"/>
            <a:ext cx="3968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F12 → Console (JS errors, run code), Network (API calls, status codes, headers)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Test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2743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76809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4124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41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859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int[] arr = new int[5] and ArrayList&lt;Integer&gt; list = new ArrayList&lt;&gt;()?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76809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841248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841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8595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class Vehicle with protected field speed. Create subclass Car that overrides a displayInfo() method.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86537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1938528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1956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5760" y="228600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encapsulation with an example. Why do we use private fields with public getters/setters?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86537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1938528"/>
            <a:ext cx="329184" cy="32918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1938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1956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228600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Java method readFile(String path) that handles FileNotFoundException and IOException separately.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96265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035808"/>
            <a:ext cx="329184" cy="32918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3054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760" y="338328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3 HTML attributes used to identify form elements in automation testing and why each is useful.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96265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3035808"/>
            <a:ext cx="329184" cy="32918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3054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JS/DOM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54880" y="338328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JS code that validates an email field on button click and shows an error message below the input.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05993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4133088"/>
            <a:ext cx="329184" cy="32918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151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65760" y="448056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notice an API call returns status 401. What does this mean? Where do you see the response body?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059936"/>
            <a:ext cx="420624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4133088"/>
            <a:ext cx="329184" cy="32918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41513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Error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754880" y="4480560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error is: Cannot read properties of undefined (reading 'length')? How do you fix it?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✍️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61872" y="10149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simple Java validation logic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61872" y="130759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age, username length, and password strength using if-else and String methods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74520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74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61872" y="18379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web elements using browser tools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213055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DevTools → Elements tab → Right-click any field/button → Inspect → Find id, class, 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0604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697480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61872" y="26609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button, field, link, message elements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61872" y="295351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login HTML page, identify each element type and list its attributes (id, type, name)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520440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520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61872" y="34838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API calls from browser Network tab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61872" y="377647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 website → F12 → Network → Filter XHR → Click an API → View Headers, Payload, Response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8046720" cy="713232"/>
          </a:xfrm>
          <a:prstGeom prst="roundRect">
            <a:avLst>
              <a:gd name="adj" fmla="val 8974"/>
            </a:avLst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343400"/>
            <a:ext cx="512064" cy="51206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43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🐛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61872" y="430682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basic JavaScript console errors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61872" y="4599432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Console → Type buggy code → Read the error type, message, and line number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Testing Foundation - Java &amp; Web Technologies</dc:title>
  <dc:subject>PptxGenJS Presentation</dc:subject>
  <dc:creator>PptxGenJS</dc:creator>
  <cp:lastModifiedBy>PptxGenJS</cp:lastModifiedBy>
  <cp:revision>1</cp:revision>
  <dcterms:created xsi:type="dcterms:W3CDTF">2026-06-25T03:22:23Z</dcterms:created>
  <dcterms:modified xsi:type="dcterms:W3CDTF">2026-06-25T03:22:23Z</dcterms:modified>
</cp:coreProperties>
</file>